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aleway"/>
      <p:regular r:id="rId23"/>
      <p:bold r:id="rId24"/>
      <p:italic r:id="rId25"/>
      <p:boldItalic r:id="rId26"/>
    </p:embeddedFont>
    <p:embeddedFont>
      <p:font typeface="Albert Sans Medium"/>
      <p:regular r:id="rId27"/>
      <p:bold r:id="rId28"/>
      <p:italic r:id="rId29"/>
      <p:boldItalic r:id="rId30"/>
    </p:embeddedFont>
    <p:embeddedFont>
      <p:font typeface="Inter"/>
      <p:regular r:id="rId31"/>
      <p:bold r:id="rId32"/>
      <p:italic r:id="rId33"/>
      <p:boldItalic r:id="rId34"/>
    </p:embeddedFont>
    <p:embeddedFont>
      <p:font typeface="Lexend"/>
      <p:regular r:id="rId35"/>
      <p:bold r:id="rId36"/>
    </p:embeddedFont>
    <p:embeddedFont>
      <p:font typeface="Albert Sans"/>
      <p:regular r:id="rId37"/>
      <p:bold r:id="rId38"/>
      <p:italic r:id="rId39"/>
      <p:boldItalic r:id="rId40"/>
    </p:embeddedFont>
    <p:embeddedFont>
      <p:font typeface="PT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Kyle Jaques"/>
  <p:cmAuthor clrIdx="1" id="1" initials="" lastIdx="1" name="Walter Lovett I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AlbertSans-boldItalic.fntdata"/><Relationship Id="rId20" Type="http://schemas.openxmlformats.org/officeDocument/2006/relationships/slide" Target="slides/slide15.xml"/><Relationship Id="rId42" Type="http://schemas.openxmlformats.org/officeDocument/2006/relationships/font" Target="fonts/PTSans-bold.fntdata"/><Relationship Id="rId41" Type="http://schemas.openxmlformats.org/officeDocument/2006/relationships/font" Target="fonts/PTSans-regular.fntdata"/><Relationship Id="rId22" Type="http://schemas.openxmlformats.org/officeDocument/2006/relationships/slide" Target="slides/slide17.xml"/><Relationship Id="rId44" Type="http://schemas.openxmlformats.org/officeDocument/2006/relationships/font" Target="fonts/PTSans-boldItalic.fntdata"/><Relationship Id="rId21" Type="http://schemas.openxmlformats.org/officeDocument/2006/relationships/slide" Target="slides/slide16.xml"/><Relationship Id="rId43" Type="http://schemas.openxmlformats.org/officeDocument/2006/relationships/font" Target="fonts/PTSans-italic.fntdata"/><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AlbertSansMedium-bold.fntdata"/><Relationship Id="rId27" Type="http://schemas.openxmlformats.org/officeDocument/2006/relationships/font" Target="fonts/AlbertSans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bertSans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regular.fntdata"/><Relationship Id="rId30" Type="http://schemas.openxmlformats.org/officeDocument/2006/relationships/font" Target="fonts/AlbertSansMedium-boldItalic.fntdata"/><Relationship Id="rId11" Type="http://schemas.openxmlformats.org/officeDocument/2006/relationships/slide" Target="slides/slide6.xml"/><Relationship Id="rId33" Type="http://schemas.openxmlformats.org/officeDocument/2006/relationships/font" Target="fonts/Inter-italic.fntdata"/><Relationship Id="rId10" Type="http://schemas.openxmlformats.org/officeDocument/2006/relationships/slide" Target="slides/slide5.xml"/><Relationship Id="rId32" Type="http://schemas.openxmlformats.org/officeDocument/2006/relationships/font" Target="fonts/Inter-bold.fntdata"/><Relationship Id="rId13" Type="http://schemas.openxmlformats.org/officeDocument/2006/relationships/slide" Target="slides/slide8.xml"/><Relationship Id="rId35" Type="http://schemas.openxmlformats.org/officeDocument/2006/relationships/font" Target="fonts/Lexend-regular.fntdata"/><Relationship Id="rId12" Type="http://schemas.openxmlformats.org/officeDocument/2006/relationships/slide" Target="slides/slide7.xml"/><Relationship Id="rId34" Type="http://schemas.openxmlformats.org/officeDocument/2006/relationships/font" Target="fonts/Inter-boldItalic.fntdata"/><Relationship Id="rId15" Type="http://schemas.openxmlformats.org/officeDocument/2006/relationships/slide" Target="slides/slide10.xml"/><Relationship Id="rId37" Type="http://schemas.openxmlformats.org/officeDocument/2006/relationships/font" Target="fonts/AlbertSans-regular.fntdata"/><Relationship Id="rId14" Type="http://schemas.openxmlformats.org/officeDocument/2006/relationships/slide" Target="slides/slide9.xml"/><Relationship Id="rId36" Type="http://schemas.openxmlformats.org/officeDocument/2006/relationships/font" Target="fonts/Lexend-bold.fntdata"/><Relationship Id="rId17" Type="http://schemas.openxmlformats.org/officeDocument/2006/relationships/slide" Target="slides/slide12.xml"/><Relationship Id="rId39" Type="http://schemas.openxmlformats.org/officeDocument/2006/relationships/font" Target="fonts/AlbertSans-italic.fntdata"/><Relationship Id="rId16" Type="http://schemas.openxmlformats.org/officeDocument/2006/relationships/slide" Target="slides/slide11.xml"/><Relationship Id="rId38" Type="http://schemas.openxmlformats.org/officeDocument/2006/relationships/font" Target="fonts/AlbertSans-bold.fntdata"/><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0-21T14:39:01.815">
    <p:pos x="6000" y="0"/>
    <p:text>Kyle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0-20T19:37:49.530">
    <p:pos x="6000" y="0"/>
    <p:text>Kyle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0-21T19:25:13.622">
    <p:pos x="6000" y="0"/>
    <p:text>Walter</p:text>
  </p:cm>
  <p:cm authorId="1" idx="1" dt="2025-10-21T19:25:13.622">
    <p:pos x="6000" y="0"/>
    <p:text>Done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10-21T14:51:19.132">
    <p:pos x="6000" y="0"/>
    <p:text>Kyle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10-21T14:52:47.786">
    <p:pos x="6000" y="0"/>
    <p:text>Kyle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8ee2a578f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58ee2a578f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bbaa91f60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bbaa91f60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5915e009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5915e009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Depending on your route, you can expect most days to be normal unless you are on the west end, Nolensville pike, or Murfreesboro pike. Some lateness can be expected and we apologize for these instances.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bbaa91f6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9bbaa91f6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for expected delays, more delays are expected for buses coming from downtown. This is more than likely due to traffic problems but can be covered more intently with following information that our group is providing.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bbaa91f6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bbaa91f6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for blocks, Green is good, blue means they were early and orange is late.  Each block gets a code with the first digits being the route. With this data, you can see that a majority of each route is still meeting our expectations but we can more clearly see the problem areas are Charlotte Pike and Nolensville Pike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5915e0090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5915e0090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bbaa91f60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bbaa91f60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bbaa91f60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bbaa91f60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be68f5a3f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be68f5a3f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be68f5a3f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9be68f5a3f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be68f5a3f_3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be68f5a3f_3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be68f5a3f_3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be68f5a3f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54dda1946d_4_2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54dda1946d_4_2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9bbaa91f60_6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9bbaa91f60_6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c1ed446cc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9c1ed446cc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flipH="1">
            <a:off x="521580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10" name="Google Shape;10;p2"/>
          <p:cNvCxnSpPr/>
          <p:nvPr/>
        </p:nvCxnSpPr>
        <p:spPr>
          <a:xfrm rot="10800000">
            <a:off x="713225" y="4604000"/>
            <a:ext cx="1830600" cy="0"/>
          </a:xfrm>
          <a:prstGeom prst="straightConnector1">
            <a:avLst/>
          </a:prstGeom>
          <a:noFill/>
          <a:ln cap="flat" cmpd="sng" w="28575">
            <a:solidFill>
              <a:schemeClr val="dk2"/>
            </a:solidFill>
            <a:prstDash val="solid"/>
            <a:round/>
            <a:headEnd len="med" w="med" type="none"/>
            <a:tailEnd len="med" w="med" type="none"/>
          </a:ln>
        </p:spPr>
      </p:cxnSp>
      <p:sp>
        <p:nvSpPr>
          <p:cNvPr id="11" name="Google Shape;11;p2"/>
          <p:cNvSpPr txBox="1"/>
          <p:nvPr>
            <p:ph type="ctrTitle"/>
          </p:nvPr>
        </p:nvSpPr>
        <p:spPr>
          <a:xfrm>
            <a:off x="713225" y="916776"/>
            <a:ext cx="4853100" cy="25515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 name="Google Shape;12;p2"/>
          <p:cNvSpPr txBox="1"/>
          <p:nvPr>
            <p:ph idx="1" type="subTitle"/>
          </p:nvPr>
        </p:nvSpPr>
        <p:spPr>
          <a:xfrm>
            <a:off x="713225" y="3585113"/>
            <a:ext cx="48531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 name="Google Shape;13;p2"/>
          <p:cNvSpPr/>
          <p:nvPr>
            <p:ph idx="2" type="pic"/>
          </p:nvPr>
        </p:nvSpPr>
        <p:spPr>
          <a:xfrm>
            <a:off x="5786400" y="539500"/>
            <a:ext cx="2787000" cy="40644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4047175" y="2179350"/>
            <a:ext cx="43836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hasCustomPrompt="1" idx="2" type="title"/>
          </p:nvPr>
        </p:nvSpPr>
        <p:spPr>
          <a:xfrm>
            <a:off x="4047175" y="1182675"/>
            <a:ext cx="1474500" cy="9966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p:nvPr>
            <p:ph idx="3" type="pic"/>
          </p:nvPr>
        </p:nvSpPr>
        <p:spPr>
          <a:xfrm>
            <a:off x="583800"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 name="Google Shape;20;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1" name="Google Shape;21;p4"/>
          <p:cNvSpPr/>
          <p:nvPr/>
        </p:nvSpPr>
        <p:spPr>
          <a:xfrm flipH="1">
            <a:off x="8024400" y="3677600"/>
            <a:ext cx="1119600" cy="14658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22" name="Google Shape;22;p4"/>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cxnSp>
        <p:nvCxnSpPr>
          <p:cNvPr id="24" name="Google Shape;24;p5"/>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25" name="Google Shape;2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5"/>
          <p:cNvSpPr txBox="1"/>
          <p:nvPr>
            <p:ph idx="1" type="subTitle"/>
          </p:nvPr>
        </p:nvSpPr>
        <p:spPr>
          <a:xfrm>
            <a:off x="1214975" y="1694876"/>
            <a:ext cx="4000800" cy="104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idx="2" type="subTitle"/>
          </p:nvPr>
        </p:nvSpPr>
        <p:spPr>
          <a:xfrm>
            <a:off x="1214975" y="1362575"/>
            <a:ext cx="4000800" cy="411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 name="Google Shape;28;p5"/>
          <p:cNvSpPr txBox="1"/>
          <p:nvPr>
            <p:ph idx="3" type="subTitle"/>
          </p:nvPr>
        </p:nvSpPr>
        <p:spPr>
          <a:xfrm>
            <a:off x="1214975" y="3255950"/>
            <a:ext cx="4000800" cy="104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idx="4" type="subTitle"/>
          </p:nvPr>
        </p:nvSpPr>
        <p:spPr>
          <a:xfrm>
            <a:off x="1214975" y="2923650"/>
            <a:ext cx="4000800" cy="411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0" name="Google Shape;30;p5"/>
          <p:cNvSpPr/>
          <p:nvPr>
            <p:ph idx="5" type="pic"/>
          </p:nvPr>
        </p:nvSpPr>
        <p:spPr>
          <a:xfrm>
            <a:off x="5786400" y="539500"/>
            <a:ext cx="2787000" cy="40644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cxnSp>
        <p:nvCxnSpPr>
          <p:cNvPr id="32" name="Google Shape;32;p6"/>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33" name="Google Shape;33;p6"/>
          <p:cNvSpPr/>
          <p:nvPr/>
        </p:nvSpPr>
        <p:spPr>
          <a:xfrm flipH="1">
            <a:off x="8024400" y="3677600"/>
            <a:ext cx="1119600" cy="14658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 name="Google Shape;3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cxnSp>
        <p:nvCxnSpPr>
          <p:cNvPr id="36" name="Google Shape;36;p7"/>
          <p:cNvCxnSpPr/>
          <p:nvPr/>
        </p:nvCxnSpPr>
        <p:spPr>
          <a:xfrm rot="10800000">
            <a:off x="639000" y="539488"/>
            <a:ext cx="1167600" cy="0"/>
          </a:xfrm>
          <a:prstGeom prst="straightConnector1">
            <a:avLst/>
          </a:prstGeom>
          <a:noFill/>
          <a:ln cap="flat" cmpd="sng" w="28575">
            <a:solidFill>
              <a:schemeClr val="dk2"/>
            </a:solidFill>
            <a:prstDash val="solid"/>
            <a:round/>
            <a:headEnd len="med" w="med" type="none"/>
            <a:tailEnd len="med" w="med" type="none"/>
          </a:ln>
        </p:spPr>
      </p:cxnSp>
      <p:sp>
        <p:nvSpPr>
          <p:cNvPr id="37" name="Google Shape;37;p7"/>
          <p:cNvSpPr txBox="1"/>
          <p:nvPr>
            <p:ph type="title"/>
          </p:nvPr>
        </p:nvSpPr>
        <p:spPr>
          <a:xfrm>
            <a:off x="735775" y="539500"/>
            <a:ext cx="4316400" cy="139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7"/>
          <p:cNvSpPr txBox="1"/>
          <p:nvPr>
            <p:ph idx="1" type="subTitle"/>
          </p:nvPr>
        </p:nvSpPr>
        <p:spPr>
          <a:xfrm>
            <a:off x="735775" y="2004497"/>
            <a:ext cx="4316400" cy="25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39" name="Google Shape;39;p7"/>
          <p:cNvSpPr/>
          <p:nvPr>
            <p:ph idx="2" type="pic"/>
          </p:nvPr>
        </p:nvSpPr>
        <p:spPr>
          <a:xfrm>
            <a:off x="5786400" y="539500"/>
            <a:ext cx="2787000" cy="40644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8"/>
          <p:cNvSpPr/>
          <p:nvPr/>
        </p:nvSpPr>
        <p:spPr>
          <a:xfrm>
            <a:off x="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2" name="Google Shape;42;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43" name="Google Shape;43;p8"/>
          <p:cNvCxnSpPr/>
          <p:nvPr/>
        </p:nvCxnSpPr>
        <p:spPr>
          <a:xfrm rot="10800000">
            <a:off x="6432275" y="4604000"/>
            <a:ext cx="1830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6" name="Google Shape;46;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 name="Google Shape;47;p9"/>
          <p:cNvSpPr/>
          <p:nvPr/>
        </p:nvSpPr>
        <p:spPr>
          <a:xfrm flipH="1">
            <a:off x="521580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8" name="Google Shape;48;p9"/>
          <p:cNvSpPr/>
          <p:nvPr>
            <p:ph idx="2" type="pic"/>
          </p:nvPr>
        </p:nvSpPr>
        <p:spPr>
          <a:xfrm>
            <a:off x="5786400" y="539500"/>
            <a:ext cx="2787000" cy="4064400"/>
          </a:xfrm>
          <a:prstGeom prst="rect">
            <a:avLst/>
          </a:prstGeom>
          <a:noFill/>
          <a:ln>
            <a:noFill/>
          </a:ln>
        </p:spPr>
      </p:sp>
      <p:cxnSp>
        <p:nvCxnSpPr>
          <p:cNvPr id="49" name="Google Shape;49;p9"/>
          <p:cNvCxnSpPr/>
          <p:nvPr/>
        </p:nvCxnSpPr>
        <p:spPr>
          <a:xfrm rot="10800000">
            <a:off x="713225" y="539500"/>
            <a:ext cx="1830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ph idx="2" type="pic"/>
          </p:nvPr>
        </p:nvSpPr>
        <p:spPr>
          <a:xfrm>
            <a:off x="0" y="0"/>
            <a:ext cx="9144000" cy="5143500"/>
          </a:xfrm>
          <a:prstGeom prst="rect">
            <a:avLst/>
          </a:prstGeom>
          <a:noFill/>
          <a:ln>
            <a:noFill/>
          </a:ln>
        </p:spPr>
      </p:sp>
      <p:sp>
        <p:nvSpPr>
          <p:cNvPr id="52" name="Google Shape;52;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 name="Shape 53"/>
        <p:cNvGrpSpPr/>
        <p:nvPr/>
      </p:nvGrpSpPr>
      <p:grpSpPr>
        <a:xfrm>
          <a:off x="0" y="0"/>
          <a:ext cx="0" cy="0"/>
          <a:chOff x="0" y="0"/>
          <a:chExt cx="0" cy="0"/>
        </a:xfrm>
      </p:grpSpPr>
      <p:cxnSp>
        <p:nvCxnSpPr>
          <p:cNvPr id="54" name="Google Shape;54;p11"/>
          <p:cNvCxnSpPr/>
          <p:nvPr/>
        </p:nvCxnSpPr>
        <p:spPr>
          <a:xfrm rot="10800000">
            <a:off x="713225" y="1340875"/>
            <a:ext cx="1830600" cy="0"/>
          </a:xfrm>
          <a:prstGeom prst="straightConnector1">
            <a:avLst/>
          </a:prstGeom>
          <a:noFill/>
          <a:ln cap="flat" cmpd="sng" w="28575">
            <a:solidFill>
              <a:schemeClr val="dk2"/>
            </a:solidFill>
            <a:prstDash val="solid"/>
            <a:round/>
            <a:headEnd len="med" w="med" type="none"/>
            <a:tailEnd len="med" w="med" type="none"/>
          </a:ln>
        </p:spPr>
      </p:cxnSp>
      <p:sp>
        <p:nvSpPr>
          <p:cNvPr id="55" name="Google Shape;55;p11"/>
          <p:cNvSpPr txBox="1"/>
          <p:nvPr>
            <p:ph hasCustomPrompt="1" type="title"/>
          </p:nvPr>
        </p:nvSpPr>
        <p:spPr>
          <a:xfrm>
            <a:off x="713225" y="1340875"/>
            <a:ext cx="4827000" cy="16284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p:nvPr>
            <p:ph idx="1" type="subTitle"/>
          </p:nvPr>
        </p:nvSpPr>
        <p:spPr>
          <a:xfrm>
            <a:off x="713225" y="3101850"/>
            <a:ext cx="4827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7" name="Google Shape;57;p11"/>
          <p:cNvSpPr/>
          <p:nvPr>
            <p:ph idx="2" type="pic"/>
          </p:nvPr>
        </p:nvSpPr>
        <p:spPr>
          <a:xfrm>
            <a:off x="5786400" y="539500"/>
            <a:ext cx="2787000" cy="40644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9" name="Shape 59"/>
        <p:cNvGrpSpPr/>
        <p:nvPr/>
      </p:nvGrpSpPr>
      <p:grpSpPr>
        <a:xfrm>
          <a:off x="0" y="0"/>
          <a:ext cx="0" cy="0"/>
          <a:chOff x="0" y="0"/>
          <a:chExt cx="0" cy="0"/>
        </a:xfrm>
      </p:grpSpPr>
      <p:sp>
        <p:nvSpPr>
          <p:cNvPr id="60" name="Google Shape;60;p13"/>
          <p:cNvSpPr txBox="1"/>
          <p:nvPr>
            <p:ph idx="1" type="subTitle"/>
          </p:nvPr>
        </p:nvSpPr>
        <p:spPr>
          <a:xfrm>
            <a:off x="5282500" y="1360100"/>
            <a:ext cx="3148200" cy="66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 name="Google Shape;61;p13"/>
          <p:cNvSpPr txBox="1"/>
          <p:nvPr>
            <p:ph type="title"/>
          </p:nvPr>
        </p:nvSpPr>
        <p:spPr>
          <a:xfrm>
            <a:off x="713225" y="1953900"/>
            <a:ext cx="33291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4000"/>
              <a:buNone/>
              <a:defRPr sz="4000">
                <a:solidFill>
                  <a:schemeClr val="lt1"/>
                </a:solidFill>
              </a:defRPr>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cxnSp>
        <p:nvCxnSpPr>
          <p:cNvPr id="62" name="Google Shape;62;p13"/>
          <p:cNvCxnSpPr/>
          <p:nvPr/>
        </p:nvCxnSpPr>
        <p:spPr>
          <a:xfrm rot="10800000">
            <a:off x="7263100" y="372394"/>
            <a:ext cx="1167600" cy="0"/>
          </a:xfrm>
          <a:prstGeom prst="straightConnector1">
            <a:avLst/>
          </a:prstGeom>
          <a:noFill/>
          <a:ln cap="flat" cmpd="sng" w="28575">
            <a:solidFill>
              <a:schemeClr val="dk2"/>
            </a:solidFill>
            <a:prstDash val="solid"/>
            <a:round/>
            <a:headEnd len="med" w="med" type="none"/>
            <a:tailEnd len="med" w="med" type="none"/>
          </a:ln>
        </p:spPr>
      </p:cxnSp>
      <p:sp>
        <p:nvSpPr>
          <p:cNvPr id="63" name="Google Shape;63;p13"/>
          <p:cNvSpPr txBox="1"/>
          <p:nvPr>
            <p:ph hasCustomPrompt="1" idx="2" type="title"/>
          </p:nvPr>
        </p:nvSpPr>
        <p:spPr>
          <a:xfrm>
            <a:off x="4450050" y="677158"/>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p:nvPr>
            <p:ph idx="3" type="subTitle"/>
          </p:nvPr>
        </p:nvSpPr>
        <p:spPr>
          <a:xfrm>
            <a:off x="5282500" y="677150"/>
            <a:ext cx="3148200" cy="66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5" name="Google Shape;65;p13"/>
          <p:cNvSpPr txBox="1"/>
          <p:nvPr>
            <p:ph hasCustomPrompt="1" idx="4" type="title"/>
          </p:nvPr>
        </p:nvSpPr>
        <p:spPr>
          <a:xfrm>
            <a:off x="4450050" y="1360108"/>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p:nvPr>
            <p:ph hasCustomPrompt="1" idx="5" type="title"/>
          </p:nvPr>
        </p:nvSpPr>
        <p:spPr>
          <a:xfrm>
            <a:off x="4450050" y="2043058"/>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idx="6" type="subTitle"/>
          </p:nvPr>
        </p:nvSpPr>
        <p:spPr>
          <a:xfrm>
            <a:off x="5282500" y="2043050"/>
            <a:ext cx="3148200" cy="66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8" name="Google Shape;68;p13"/>
          <p:cNvSpPr txBox="1"/>
          <p:nvPr>
            <p:ph hasCustomPrompt="1" idx="7" type="title"/>
          </p:nvPr>
        </p:nvSpPr>
        <p:spPr>
          <a:xfrm>
            <a:off x="4450050" y="2726008"/>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idx="8" type="subTitle"/>
          </p:nvPr>
        </p:nvSpPr>
        <p:spPr>
          <a:xfrm>
            <a:off x="5282500" y="2726000"/>
            <a:ext cx="3148200" cy="66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0" name="Google Shape;70;p13"/>
          <p:cNvSpPr txBox="1"/>
          <p:nvPr>
            <p:ph hasCustomPrompt="1" idx="9" type="title"/>
          </p:nvPr>
        </p:nvSpPr>
        <p:spPr>
          <a:xfrm>
            <a:off x="4450050" y="3408958"/>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p:nvPr>
            <p:ph idx="13" type="subTitle"/>
          </p:nvPr>
        </p:nvSpPr>
        <p:spPr>
          <a:xfrm>
            <a:off x="5282500" y="3408950"/>
            <a:ext cx="3148200" cy="66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2" name="Google Shape;72;p13"/>
          <p:cNvSpPr txBox="1"/>
          <p:nvPr>
            <p:ph hasCustomPrompt="1" idx="14" type="title"/>
          </p:nvPr>
        </p:nvSpPr>
        <p:spPr>
          <a:xfrm>
            <a:off x="4450050" y="4091908"/>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p:nvPr>
            <p:ph idx="15" type="subTitle"/>
          </p:nvPr>
        </p:nvSpPr>
        <p:spPr>
          <a:xfrm>
            <a:off x="5282500" y="4091900"/>
            <a:ext cx="3148200" cy="66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74" name="Shape 74"/>
        <p:cNvGrpSpPr/>
        <p:nvPr/>
      </p:nvGrpSpPr>
      <p:grpSpPr>
        <a:xfrm>
          <a:off x="0" y="0"/>
          <a:ext cx="0" cy="0"/>
          <a:chOff x="0" y="0"/>
          <a:chExt cx="0" cy="0"/>
        </a:xfrm>
      </p:grpSpPr>
      <p:cxnSp>
        <p:nvCxnSpPr>
          <p:cNvPr id="75" name="Google Shape;75;p14"/>
          <p:cNvCxnSpPr/>
          <p:nvPr/>
        </p:nvCxnSpPr>
        <p:spPr>
          <a:xfrm rot="10800000">
            <a:off x="6432275" y="4604000"/>
            <a:ext cx="1830600" cy="0"/>
          </a:xfrm>
          <a:prstGeom prst="straightConnector1">
            <a:avLst/>
          </a:prstGeom>
          <a:noFill/>
          <a:ln cap="flat" cmpd="sng" w="28575">
            <a:solidFill>
              <a:schemeClr val="dk2"/>
            </a:solidFill>
            <a:prstDash val="solid"/>
            <a:round/>
            <a:headEnd len="med" w="med" type="none"/>
            <a:tailEnd len="med" w="med" type="none"/>
          </a:ln>
        </p:spPr>
      </p:cxnSp>
      <p:sp>
        <p:nvSpPr>
          <p:cNvPr id="76" name="Google Shape;76;p14"/>
          <p:cNvSpPr txBox="1"/>
          <p:nvPr>
            <p:ph type="title"/>
          </p:nvPr>
        </p:nvSpPr>
        <p:spPr>
          <a:xfrm>
            <a:off x="3889175" y="949375"/>
            <a:ext cx="3205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 name="Google Shape;77;p14"/>
          <p:cNvSpPr txBox="1"/>
          <p:nvPr>
            <p:ph idx="1" type="subTitle"/>
          </p:nvPr>
        </p:nvSpPr>
        <p:spPr>
          <a:xfrm>
            <a:off x="3889175" y="2055125"/>
            <a:ext cx="4373700" cy="213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78" name="Shape 78"/>
        <p:cNvGrpSpPr/>
        <p:nvPr/>
      </p:nvGrpSpPr>
      <p:grpSpPr>
        <a:xfrm>
          <a:off x="0" y="0"/>
          <a:ext cx="0" cy="0"/>
          <a:chOff x="0" y="0"/>
          <a:chExt cx="0" cy="0"/>
        </a:xfrm>
      </p:grpSpPr>
      <p:sp>
        <p:nvSpPr>
          <p:cNvPr id="79" name="Google Shape;79;p15"/>
          <p:cNvSpPr/>
          <p:nvPr/>
        </p:nvSpPr>
        <p:spPr>
          <a:xfrm flipH="1">
            <a:off x="7240200" y="2650900"/>
            <a:ext cx="1903800" cy="24927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0" name="Google Shape;80;p15"/>
          <p:cNvSpPr txBox="1"/>
          <p:nvPr>
            <p:ph type="title"/>
          </p:nvPr>
        </p:nvSpPr>
        <p:spPr>
          <a:xfrm>
            <a:off x="3113200" y="539500"/>
            <a:ext cx="2402100" cy="1146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 name="Google Shape;81;p15"/>
          <p:cNvSpPr txBox="1"/>
          <p:nvPr>
            <p:ph idx="1" type="subTitle"/>
          </p:nvPr>
        </p:nvSpPr>
        <p:spPr>
          <a:xfrm>
            <a:off x="3113200" y="1591600"/>
            <a:ext cx="2402100" cy="123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2" name="Google Shape;82;p15"/>
          <p:cNvSpPr/>
          <p:nvPr>
            <p:ph idx="2" type="pic"/>
          </p:nvPr>
        </p:nvSpPr>
        <p:spPr>
          <a:xfrm>
            <a:off x="5610975" y="554676"/>
            <a:ext cx="2801100" cy="4049400"/>
          </a:xfrm>
          <a:prstGeom prst="rect">
            <a:avLst/>
          </a:prstGeom>
          <a:noFill/>
          <a:ln>
            <a:noFill/>
          </a:ln>
        </p:spPr>
      </p:sp>
      <p:sp>
        <p:nvSpPr>
          <p:cNvPr id="83" name="Google Shape;83;p15"/>
          <p:cNvSpPr/>
          <p:nvPr>
            <p:ph idx="3" type="pic"/>
          </p:nvPr>
        </p:nvSpPr>
        <p:spPr>
          <a:xfrm>
            <a:off x="713225" y="539500"/>
            <a:ext cx="2304300" cy="2285700"/>
          </a:xfrm>
          <a:prstGeom prst="rect">
            <a:avLst/>
          </a:prstGeom>
          <a:noFill/>
          <a:ln>
            <a:noFill/>
          </a:ln>
        </p:spPr>
      </p:sp>
      <p:sp>
        <p:nvSpPr>
          <p:cNvPr id="84" name="Google Shape;84;p15"/>
          <p:cNvSpPr/>
          <p:nvPr>
            <p:ph idx="4" type="pic"/>
          </p:nvPr>
        </p:nvSpPr>
        <p:spPr>
          <a:xfrm>
            <a:off x="713225" y="2953775"/>
            <a:ext cx="4740300" cy="16503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5" name="Shape 85"/>
        <p:cNvGrpSpPr/>
        <p:nvPr/>
      </p:nvGrpSpPr>
      <p:grpSpPr>
        <a:xfrm>
          <a:off x="0" y="0"/>
          <a:ext cx="0" cy="0"/>
          <a:chOff x="0" y="0"/>
          <a:chExt cx="0" cy="0"/>
        </a:xfrm>
      </p:grpSpPr>
      <p:sp>
        <p:nvSpPr>
          <p:cNvPr id="86" name="Google Shape;86;p16"/>
          <p:cNvSpPr/>
          <p:nvPr/>
        </p:nvSpPr>
        <p:spPr>
          <a:xfrm flipH="1">
            <a:off x="8024400" y="3677600"/>
            <a:ext cx="1119600" cy="14658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87" name="Google Shape;87;p16"/>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88" name="Google Shape;88;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9" name="Google Shape;89;p16"/>
          <p:cNvSpPr txBox="1"/>
          <p:nvPr>
            <p:ph idx="1" type="subTitle"/>
          </p:nvPr>
        </p:nvSpPr>
        <p:spPr>
          <a:xfrm>
            <a:off x="720000" y="2341800"/>
            <a:ext cx="2446200" cy="202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 name="Google Shape;90;p16"/>
          <p:cNvSpPr txBox="1"/>
          <p:nvPr>
            <p:ph idx="2" type="subTitle"/>
          </p:nvPr>
        </p:nvSpPr>
        <p:spPr>
          <a:xfrm>
            <a:off x="3348875" y="2341800"/>
            <a:ext cx="2446200" cy="202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 name="Google Shape;91;p16"/>
          <p:cNvSpPr txBox="1"/>
          <p:nvPr>
            <p:ph idx="3" type="subTitle"/>
          </p:nvPr>
        </p:nvSpPr>
        <p:spPr>
          <a:xfrm>
            <a:off x="5977750" y="2341800"/>
            <a:ext cx="2446200" cy="202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2" name="Google Shape;92;p16"/>
          <p:cNvSpPr txBox="1"/>
          <p:nvPr>
            <p:ph idx="4" type="subTitle"/>
          </p:nvPr>
        </p:nvSpPr>
        <p:spPr>
          <a:xfrm>
            <a:off x="720000" y="1494175"/>
            <a:ext cx="24462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Lexend"/>
                <a:ea typeface="Lexend"/>
                <a:cs typeface="Lexend"/>
                <a:sym typeface="Lexe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 name="Google Shape;93;p16"/>
          <p:cNvSpPr txBox="1"/>
          <p:nvPr>
            <p:ph idx="5" type="subTitle"/>
          </p:nvPr>
        </p:nvSpPr>
        <p:spPr>
          <a:xfrm>
            <a:off x="3348879" y="1494175"/>
            <a:ext cx="24462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Lexend"/>
                <a:ea typeface="Lexend"/>
                <a:cs typeface="Lexend"/>
                <a:sym typeface="Lexe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4" name="Google Shape;94;p16"/>
          <p:cNvSpPr txBox="1"/>
          <p:nvPr>
            <p:ph idx="6" type="subTitle"/>
          </p:nvPr>
        </p:nvSpPr>
        <p:spPr>
          <a:xfrm>
            <a:off x="5977751" y="1494175"/>
            <a:ext cx="24462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Lexend"/>
                <a:ea typeface="Lexend"/>
                <a:cs typeface="Lexend"/>
                <a:sym typeface="Lexe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5" name="Shape 95"/>
        <p:cNvGrpSpPr/>
        <p:nvPr/>
      </p:nvGrpSpPr>
      <p:grpSpPr>
        <a:xfrm>
          <a:off x="0" y="0"/>
          <a:ext cx="0" cy="0"/>
          <a:chOff x="0" y="0"/>
          <a:chExt cx="0" cy="0"/>
        </a:xfrm>
      </p:grpSpPr>
      <p:sp>
        <p:nvSpPr>
          <p:cNvPr id="96" name="Google Shape;96;p17"/>
          <p:cNvSpPr/>
          <p:nvPr/>
        </p:nvSpPr>
        <p:spPr>
          <a:xfrm rot="10800000">
            <a:off x="8213400" y="100"/>
            <a:ext cx="930600" cy="1218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97" name="Google Shape;97;p17"/>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98" name="Google Shape;98;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9" name="Google Shape;99;p17"/>
          <p:cNvSpPr txBox="1"/>
          <p:nvPr>
            <p:ph idx="1" type="subTitle"/>
          </p:nvPr>
        </p:nvSpPr>
        <p:spPr>
          <a:xfrm>
            <a:off x="1001574" y="1735625"/>
            <a:ext cx="3314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 name="Google Shape;100;p17"/>
          <p:cNvSpPr txBox="1"/>
          <p:nvPr>
            <p:ph idx="2" type="subTitle"/>
          </p:nvPr>
        </p:nvSpPr>
        <p:spPr>
          <a:xfrm>
            <a:off x="4828026" y="1735625"/>
            <a:ext cx="3314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1" name="Google Shape;101;p17"/>
          <p:cNvSpPr txBox="1"/>
          <p:nvPr>
            <p:ph idx="3" type="subTitle"/>
          </p:nvPr>
        </p:nvSpPr>
        <p:spPr>
          <a:xfrm>
            <a:off x="1001574" y="3396200"/>
            <a:ext cx="3314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2" name="Google Shape;102;p17"/>
          <p:cNvSpPr txBox="1"/>
          <p:nvPr>
            <p:ph idx="4" type="subTitle"/>
          </p:nvPr>
        </p:nvSpPr>
        <p:spPr>
          <a:xfrm>
            <a:off x="4828026" y="3396200"/>
            <a:ext cx="3314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3" name="Google Shape;103;p17"/>
          <p:cNvSpPr txBox="1"/>
          <p:nvPr>
            <p:ph idx="5" type="subTitle"/>
          </p:nvPr>
        </p:nvSpPr>
        <p:spPr>
          <a:xfrm>
            <a:off x="1001575" y="1090375"/>
            <a:ext cx="3314400" cy="652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4" name="Google Shape;104;p17"/>
          <p:cNvSpPr txBox="1"/>
          <p:nvPr>
            <p:ph idx="6" type="subTitle"/>
          </p:nvPr>
        </p:nvSpPr>
        <p:spPr>
          <a:xfrm>
            <a:off x="1001575" y="2751075"/>
            <a:ext cx="3314400" cy="652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5" name="Google Shape;105;p17"/>
          <p:cNvSpPr txBox="1"/>
          <p:nvPr>
            <p:ph idx="7" type="subTitle"/>
          </p:nvPr>
        </p:nvSpPr>
        <p:spPr>
          <a:xfrm>
            <a:off x="4827999" y="1090375"/>
            <a:ext cx="3314400" cy="652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6" name="Google Shape;106;p17"/>
          <p:cNvSpPr txBox="1"/>
          <p:nvPr>
            <p:ph idx="8" type="subTitle"/>
          </p:nvPr>
        </p:nvSpPr>
        <p:spPr>
          <a:xfrm>
            <a:off x="4827999" y="2751075"/>
            <a:ext cx="3314400" cy="652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7" name="Shape 107"/>
        <p:cNvGrpSpPr/>
        <p:nvPr/>
      </p:nvGrpSpPr>
      <p:grpSpPr>
        <a:xfrm>
          <a:off x="0" y="0"/>
          <a:ext cx="0" cy="0"/>
          <a:chOff x="0" y="0"/>
          <a:chExt cx="0" cy="0"/>
        </a:xfrm>
      </p:grpSpPr>
      <p:cxnSp>
        <p:nvCxnSpPr>
          <p:cNvPr id="108" name="Google Shape;108;p18"/>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109" name="Google Shape;109;p18"/>
          <p:cNvSpPr/>
          <p:nvPr/>
        </p:nvSpPr>
        <p:spPr>
          <a:xfrm>
            <a:off x="0" y="3925200"/>
            <a:ext cx="930600" cy="1218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0" name="Google Shape;110;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18"/>
          <p:cNvSpPr txBox="1"/>
          <p:nvPr>
            <p:ph idx="1" type="subTitle"/>
          </p:nvPr>
        </p:nvSpPr>
        <p:spPr>
          <a:xfrm>
            <a:off x="720000" y="17101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2" name="Google Shape;112;p18"/>
          <p:cNvSpPr txBox="1"/>
          <p:nvPr>
            <p:ph idx="2" type="subTitle"/>
          </p:nvPr>
        </p:nvSpPr>
        <p:spPr>
          <a:xfrm>
            <a:off x="3455250" y="17101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 name="Google Shape;113;p18"/>
          <p:cNvSpPr txBox="1"/>
          <p:nvPr>
            <p:ph idx="3" type="subTitle"/>
          </p:nvPr>
        </p:nvSpPr>
        <p:spPr>
          <a:xfrm>
            <a:off x="720000" y="3440454"/>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4" name="Google Shape;114;p18"/>
          <p:cNvSpPr txBox="1"/>
          <p:nvPr>
            <p:ph idx="4" type="subTitle"/>
          </p:nvPr>
        </p:nvSpPr>
        <p:spPr>
          <a:xfrm>
            <a:off x="3455250" y="3440454"/>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5" name="Google Shape;115;p18"/>
          <p:cNvSpPr txBox="1"/>
          <p:nvPr>
            <p:ph idx="5" type="subTitle"/>
          </p:nvPr>
        </p:nvSpPr>
        <p:spPr>
          <a:xfrm>
            <a:off x="6190500" y="17101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18"/>
          <p:cNvSpPr txBox="1"/>
          <p:nvPr>
            <p:ph idx="6" type="subTitle"/>
          </p:nvPr>
        </p:nvSpPr>
        <p:spPr>
          <a:xfrm>
            <a:off x="6190500" y="3440454"/>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7" name="Google Shape;117;p18"/>
          <p:cNvSpPr txBox="1"/>
          <p:nvPr>
            <p:ph idx="7" type="subTitle"/>
          </p:nvPr>
        </p:nvSpPr>
        <p:spPr>
          <a:xfrm>
            <a:off x="720000" y="1336275"/>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 name="Google Shape;118;p18"/>
          <p:cNvSpPr txBox="1"/>
          <p:nvPr>
            <p:ph idx="8" type="subTitle"/>
          </p:nvPr>
        </p:nvSpPr>
        <p:spPr>
          <a:xfrm>
            <a:off x="3455250" y="1336275"/>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 name="Google Shape;119;p18"/>
          <p:cNvSpPr txBox="1"/>
          <p:nvPr>
            <p:ph idx="9" type="subTitle"/>
          </p:nvPr>
        </p:nvSpPr>
        <p:spPr>
          <a:xfrm>
            <a:off x="6190500" y="1336275"/>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0" name="Google Shape;120;p18"/>
          <p:cNvSpPr txBox="1"/>
          <p:nvPr>
            <p:ph idx="13" type="subTitle"/>
          </p:nvPr>
        </p:nvSpPr>
        <p:spPr>
          <a:xfrm>
            <a:off x="720000" y="3063351"/>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1" name="Google Shape;121;p18"/>
          <p:cNvSpPr txBox="1"/>
          <p:nvPr>
            <p:ph idx="14" type="subTitle"/>
          </p:nvPr>
        </p:nvSpPr>
        <p:spPr>
          <a:xfrm>
            <a:off x="3455250" y="3063356"/>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2" name="Google Shape;122;p18"/>
          <p:cNvSpPr txBox="1"/>
          <p:nvPr>
            <p:ph idx="15" type="subTitle"/>
          </p:nvPr>
        </p:nvSpPr>
        <p:spPr>
          <a:xfrm>
            <a:off x="6190500" y="3063356"/>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3" name="Shape 123"/>
        <p:cNvGrpSpPr/>
        <p:nvPr/>
      </p:nvGrpSpPr>
      <p:grpSpPr>
        <a:xfrm>
          <a:off x="0" y="0"/>
          <a:ext cx="0" cy="0"/>
          <a:chOff x="0" y="0"/>
          <a:chExt cx="0" cy="0"/>
        </a:xfrm>
      </p:grpSpPr>
      <p:cxnSp>
        <p:nvCxnSpPr>
          <p:cNvPr id="124" name="Google Shape;124;p19"/>
          <p:cNvCxnSpPr/>
          <p:nvPr/>
        </p:nvCxnSpPr>
        <p:spPr>
          <a:xfrm rot="10800000">
            <a:off x="558475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125" name="Google Shape;125;p19"/>
          <p:cNvSpPr txBox="1"/>
          <p:nvPr>
            <p:ph hasCustomPrompt="1" type="title"/>
          </p:nvPr>
        </p:nvSpPr>
        <p:spPr>
          <a:xfrm>
            <a:off x="4422259" y="3590550"/>
            <a:ext cx="34926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 name="Google Shape;126;p19"/>
          <p:cNvSpPr txBox="1"/>
          <p:nvPr>
            <p:ph idx="1" type="subTitle"/>
          </p:nvPr>
        </p:nvSpPr>
        <p:spPr>
          <a:xfrm>
            <a:off x="4422259" y="4272111"/>
            <a:ext cx="3492600" cy="33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27" name="Google Shape;127;p19"/>
          <p:cNvSpPr txBox="1"/>
          <p:nvPr>
            <p:ph hasCustomPrompt="1" idx="2" type="title"/>
          </p:nvPr>
        </p:nvSpPr>
        <p:spPr>
          <a:xfrm>
            <a:off x="4422259" y="539489"/>
            <a:ext cx="34926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8" name="Google Shape;128;p19"/>
          <p:cNvSpPr txBox="1"/>
          <p:nvPr>
            <p:ph idx="3" type="subTitle"/>
          </p:nvPr>
        </p:nvSpPr>
        <p:spPr>
          <a:xfrm>
            <a:off x="4422259" y="1220913"/>
            <a:ext cx="3492600" cy="33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29" name="Google Shape;129;p19"/>
          <p:cNvSpPr txBox="1"/>
          <p:nvPr>
            <p:ph hasCustomPrompt="1" idx="4" type="title"/>
          </p:nvPr>
        </p:nvSpPr>
        <p:spPr>
          <a:xfrm>
            <a:off x="4422259" y="2065020"/>
            <a:ext cx="34926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0" name="Google Shape;130;p19"/>
          <p:cNvSpPr txBox="1"/>
          <p:nvPr>
            <p:ph idx="5" type="subTitle"/>
          </p:nvPr>
        </p:nvSpPr>
        <p:spPr>
          <a:xfrm>
            <a:off x="4422259" y="2746512"/>
            <a:ext cx="3492600" cy="33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31" name="Google Shape;131;p19"/>
          <p:cNvSpPr/>
          <p:nvPr>
            <p:ph idx="6" type="pic"/>
          </p:nvPr>
        </p:nvSpPr>
        <p:spPr>
          <a:xfrm>
            <a:off x="583800" y="539500"/>
            <a:ext cx="2760600" cy="40644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2" name="Shape 132"/>
        <p:cNvGrpSpPr/>
        <p:nvPr/>
      </p:nvGrpSpPr>
      <p:grpSpPr>
        <a:xfrm>
          <a:off x="0" y="0"/>
          <a:ext cx="0" cy="0"/>
          <a:chOff x="0" y="0"/>
          <a:chExt cx="0" cy="0"/>
        </a:xfrm>
      </p:grpSpPr>
      <p:cxnSp>
        <p:nvCxnSpPr>
          <p:cNvPr id="133" name="Google Shape;133;p20"/>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
        <p:nvSpPr>
          <p:cNvPr id="134" name="Google Shape;134;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5" name="Google Shape;135;p20"/>
          <p:cNvSpPr/>
          <p:nvPr/>
        </p:nvSpPr>
        <p:spPr>
          <a:xfrm>
            <a:off x="0" y="3677600"/>
            <a:ext cx="1119600" cy="14658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36" name="Shape 136"/>
        <p:cNvGrpSpPr/>
        <p:nvPr/>
      </p:nvGrpSpPr>
      <p:grpSpPr>
        <a:xfrm>
          <a:off x="0" y="0"/>
          <a:ext cx="0" cy="0"/>
          <a:chOff x="0" y="0"/>
          <a:chExt cx="0" cy="0"/>
        </a:xfrm>
      </p:grpSpPr>
      <p:sp>
        <p:nvSpPr>
          <p:cNvPr id="137" name="Google Shape;137;p21"/>
          <p:cNvSpPr txBox="1"/>
          <p:nvPr>
            <p:ph type="title"/>
          </p:nvPr>
        </p:nvSpPr>
        <p:spPr>
          <a:xfrm>
            <a:off x="3733813"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21"/>
          <p:cNvSpPr txBox="1"/>
          <p:nvPr>
            <p:ph idx="1" type="subTitle"/>
          </p:nvPr>
        </p:nvSpPr>
        <p:spPr>
          <a:xfrm>
            <a:off x="3733775" y="1745009"/>
            <a:ext cx="44481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9" name="Google Shape;139;p21"/>
          <p:cNvSpPr/>
          <p:nvPr>
            <p:ph idx="2" type="pic"/>
          </p:nvPr>
        </p:nvSpPr>
        <p:spPr>
          <a:xfrm>
            <a:off x="583800" y="539500"/>
            <a:ext cx="2760600" cy="4064400"/>
          </a:xfrm>
          <a:prstGeom prst="rect">
            <a:avLst/>
          </a:prstGeom>
          <a:noFill/>
          <a:ln>
            <a:noFill/>
          </a:ln>
        </p:spPr>
      </p:sp>
      <p:sp>
        <p:nvSpPr>
          <p:cNvPr id="140" name="Google Shape;140;p21"/>
          <p:cNvSpPr txBox="1"/>
          <p:nvPr/>
        </p:nvSpPr>
        <p:spPr>
          <a:xfrm>
            <a:off x="3733825" y="36119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Albert Sans"/>
                <a:ea typeface="Albert Sans"/>
                <a:cs typeface="Albert Sans"/>
                <a:sym typeface="Albert Sans"/>
              </a:rPr>
              <a:t>CREDITS:</a:t>
            </a:r>
            <a:r>
              <a:rPr lang="en" sz="1000">
                <a:solidFill>
                  <a:schemeClr val="dk1"/>
                </a:solidFill>
                <a:latin typeface="Albert Sans"/>
                <a:ea typeface="Albert Sans"/>
                <a:cs typeface="Albert Sans"/>
                <a:sym typeface="Albert Sans"/>
              </a:rPr>
              <a:t> This presentation template was created by </a:t>
            </a:r>
            <a:r>
              <a:rPr b="1" lang="en" sz="10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000">
                <a:solidFill>
                  <a:schemeClr val="dk1"/>
                </a:solidFill>
                <a:latin typeface="Albert Sans"/>
                <a:ea typeface="Albert Sans"/>
                <a:cs typeface="Albert Sans"/>
                <a:sym typeface="Albert Sans"/>
              </a:rPr>
              <a:t>, and includes icons by </a:t>
            </a:r>
            <a:r>
              <a:rPr b="1" lang="en" sz="10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Flaticon</a:t>
            </a:r>
            <a:r>
              <a:rPr lang="en" sz="1000">
                <a:solidFill>
                  <a:schemeClr val="dk1"/>
                </a:solidFill>
                <a:latin typeface="Albert Sans"/>
                <a:ea typeface="Albert Sans"/>
                <a:cs typeface="Albert Sans"/>
                <a:sym typeface="Albert Sans"/>
              </a:rPr>
              <a:t>, and infographics &amp; images by </a:t>
            </a:r>
            <a:r>
              <a:rPr b="1" lang="en" sz="10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Freepik</a:t>
            </a:r>
            <a:r>
              <a:rPr lang="en" sz="1000">
                <a:solidFill>
                  <a:schemeClr val="dk1"/>
                </a:solidFill>
                <a:latin typeface="Albert Sans"/>
                <a:ea typeface="Albert Sans"/>
                <a:cs typeface="Albert Sans"/>
                <a:sym typeface="Albert Sans"/>
              </a:rPr>
              <a:t> </a:t>
            </a:r>
            <a:endParaRPr b="1" sz="1000">
              <a:solidFill>
                <a:schemeClr val="dk1"/>
              </a:solidFill>
              <a:latin typeface="Albert Sans"/>
              <a:ea typeface="Albert Sans"/>
              <a:cs typeface="Albert Sans"/>
              <a:sym typeface="Albert Sans"/>
            </a:endParaRPr>
          </a:p>
        </p:txBody>
      </p:sp>
      <p:cxnSp>
        <p:nvCxnSpPr>
          <p:cNvPr id="141" name="Google Shape;141;p21"/>
          <p:cNvCxnSpPr/>
          <p:nvPr/>
        </p:nvCxnSpPr>
        <p:spPr>
          <a:xfrm rot="10800000">
            <a:off x="5042525" y="539500"/>
            <a:ext cx="1830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42" name="Shape 142"/>
        <p:cNvGrpSpPr/>
        <p:nvPr/>
      </p:nvGrpSpPr>
      <p:grpSpPr>
        <a:xfrm>
          <a:off x="0" y="0"/>
          <a:ext cx="0" cy="0"/>
          <a:chOff x="0" y="0"/>
          <a:chExt cx="0" cy="0"/>
        </a:xfrm>
      </p:grpSpPr>
      <p:sp>
        <p:nvSpPr>
          <p:cNvPr id="143" name="Google Shape;143;p22"/>
          <p:cNvSpPr/>
          <p:nvPr/>
        </p:nvSpPr>
        <p:spPr>
          <a:xfrm rot="10800000">
            <a:off x="8213400" y="100"/>
            <a:ext cx="930600" cy="1218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144" name="Google Shape;144;p22"/>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45" name="Shape 145"/>
        <p:cNvGrpSpPr/>
        <p:nvPr/>
      </p:nvGrpSpPr>
      <p:grpSpPr>
        <a:xfrm>
          <a:off x="0" y="0"/>
          <a:ext cx="0" cy="0"/>
          <a:chOff x="0" y="0"/>
          <a:chExt cx="0" cy="0"/>
        </a:xfrm>
      </p:grpSpPr>
      <p:sp>
        <p:nvSpPr>
          <p:cNvPr id="146" name="Google Shape;146;p23"/>
          <p:cNvSpPr/>
          <p:nvPr/>
        </p:nvSpPr>
        <p:spPr>
          <a:xfrm flipH="1">
            <a:off x="8024400" y="3677600"/>
            <a:ext cx="1119600" cy="14658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147" name="Google Shape;147;p23"/>
          <p:cNvCxnSpPr/>
          <p:nvPr/>
        </p:nvCxnSpPr>
        <p:spPr>
          <a:xfrm rot="10800000">
            <a:off x="639000" y="387088"/>
            <a:ext cx="1167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_1">
    <p:spTree>
      <p:nvGrpSpPr>
        <p:cNvPr id="148" name="Shape 1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149" name="Shape 149"/>
        <p:cNvGrpSpPr/>
        <p:nvPr/>
      </p:nvGrpSpPr>
      <p:grpSpPr>
        <a:xfrm>
          <a:off x="0" y="0"/>
          <a:ext cx="0" cy="0"/>
          <a:chOff x="0" y="0"/>
          <a:chExt cx="0" cy="0"/>
        </a:xfrm>
      </p:grpSpPr>
      <p:sp>
        <p:nvSpPr>
          <p:cNvPr id="150" name="Google Shape;150;p25"/>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 name="Google Shape;151;p25"/>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Font typeface="Inter"/>
              <a:buNone/>
              <a:defRPr b="1" sz="2200"/>
            </a:lvl1pPr>
            <a:lvl2pPr lvl="1" rtl="0" algn="ctr">
              <a:spcBef>
                <a:spcPts val="0"/>
              </a:spcBef>
              <a:spcAft>
                <a:spcPts val="0"/>
              </a:spcAft>
              <a:buSzPts val="2400"/>
              <a:buFont typeface="Inter"/>
              <a:buNone/>
              <a:defRPr b="1" sz="2400">
                <a:latin typeface="Inter"/>
                <a:ea typeface="Inter"/>
                <a:cs typeface="Inter"/>
                <a:sym typeface="Inter"/>
              </a:defRPr>
            </a:lvl2pPr>
            <a:lvl3pPr lvl="2" rtl="0" algn="ctr">
              <a:spcBef>
                <a:spcPts val="0"/>
              </a:spcBef>
              <a:spcAft>
                <a:spcPts val="0"/>
              </a:spcAft>
              <a:buSzPts val="2400"/>
              <a:buFont typeface="Inter"/>
              <a:buNone/>
              <a:defRPr b="1" sz="2400">
                <a:latin typeface="Inter"/>
                <a:ea typeface="Inter"/>
                <a:cs typeface="Inter"/>
                <a:sym typeface="Inter"/>
              </a:defRPr>
            </a:lvl3pPr>
            <a:lvl4pPr lvl="3" rtl="0" algn="ctr">
              <a:spcBef>
                <a:spcPts val="0"/>
              </a:spcBef>
              <a:spcAft>
                <a:spcPts val="0"/>
              </a:spcAft>
              <a:buSzPts val="2400"/>
              <a:buFont typeface="Inter"/>
              <a:buNone/>
              <a:defRPr b="1" sz="2400">
                <a:latin typeface="Inter"/>
                <a:ea typeface="Inter"/>
                <a:cs typeface="Inter"/>
                <a:sym typeface="Inter"/>
              </a:defRPr>
            </a:lvl4pPr>
            <a:lvl5pPr lvl="4" rtl="0" algn="ctr">
              <a:spcBef>
                <a:spcPts val="0"/>
              </a:spcBef>
              <a:spcAft>
                <a:spcPts val="0"/>
              </a:spcAft>
              <a:buSzPts val="2400"/>
              <a:buFont typeface="Inter"/>
              <a:buNone/>
              <a:defRPr b="1" sz="2400">
                <a:latin typeface="Inter"/>
                <a:ea typeface="Inter"/>
                <a:cs typeface="Inter"/>
                <a:sym typeface="Inter"/>
              </a:defRPr>
            </a:lvl5pPr>
            <a:lvl6pPr lvl="5" rtl="0" algn="ctr">
              <a:spcBef>
                <a:spcPts val="0"/>
              </a:spcBef>
              <a:spcAft>
                <a:spcPts val="0"/>
              </a:spcAft>
              <a:buSzPts val="2400"/>
              <a:buFont typeface="Inter"/>
              <a:buNone/>
              <a:defRPr b="1" sz="2400">
                <a:latin typeface="Inter"/>
                <a:ea typeface="Inter"/>
                <a:cs typeface="Inter"/>
                <a:sym typeface="Inter"/>
              </a:defRPr>
            </a:lvl6pPr>
            <a:lvl7pPr lvl="6" rtl="0" algn="ctr">
              <a:spcBef>
                <a:spcPts val="0"/>
              </a:spcBef>
              <a:spcAft>
                <a:spcPts val="0"/>
              </a:spcAft>
              <a:buSzPts val="2400"/>
              <a:buFont typeface="Inter"/>
              <a:buNone/>
              <a:defRPr b="1" sz="2400">
                <a:latin typeface="Inter"/>
                <a:ea typeface="Inter"/>
                <a:cs typeface="Inter"/>
                <a:sym typeface="Inter"/>
              </a:defRPr>
            </a:lvl7pPr>
            <a:lvl8pPr lvl="7" rtl="0" algn="ctr">
              <a:spcBef>
                <a:spcPts val="0"/>
              </a:spcBef>
              <a:spcAft>
                <a:spcPts val="0"/>
              </a:spcAft>
              <a:buSzPts val="2400"/>
              <a:buFont typeface="Inter"/>
              <a:buNone/>
              <a:defRPr b="1" sz="2400">
                <a:latin typeface="Inter"/>
                <a:ea typeface="Inter"/>
                <a:cs typeface="Inter"/>
                <a:sym typeface="Inter"/>
              </a:defRPr>
            </a:lvl8pPr>
            <a:lvl9pPr lvl="8" rtl="0"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_1_1">
    <p:spTree>
      <p:nvGrpSpPr>
        <p:cNvPr id="152" name="Shape 152"/>
        <p:cNvGrpSpPr/>
        <p:nvPr/>
      </p:nvGrpSpPr>
      <p:grpSpPr>
        <a:xfrm>
          <a:off x="0" y="0"/>
          <a:ext cx="0" cy="0"/>
          <a:chOff x="0" y="0"/>
          <a:chExt cx="0" cy="0"/>
        </a:xfrm>
      </p:grpSpPr>
      <p:sp>
        <p:nvSpPr>
          <p:cNvPr id="153" name="Google Shape;153;p26"/>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 name="Google Shape;154;p26"/>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Font typeface="Inter"/>
              <a:buNone/>
              <a:defRPr b="1" sz="2200">
                <a:latin typeface="Inter"/>
                <a:ea typeface="Inter"/>
                <a:cs typeface="Inter"/>
                <a:sym typeface="Inter"/>
              </a:defRPr>
            </a:lvl1pPr>
            <a:lvl2pPr lvl="1" rtl="0" algn="ctr">
              <a:spcBef>
                <a:spcPts val="0"/>
              </a:spcBef>
              <a:spcAft>
                <a:spcPts val="0"/>
              </a:spcAft>
              <a:buSzPts val="2400"/>
              <a:buFont typeface="Inter"/>
              <a:buNone/>
              <a:defRPr b="1" sz="2400">
                <a:latin typeface="Inter"/>
                <a:ea typeface="Inter"/>
                <a:cs typeface="Inter"/>
                <a:sym typeface="Inter"/>
              </a:defRPr>
            </a:lvl2pPr>
            <a:lvl3pPr lvl="2" rtl="0" algn="ctr">
              <a:spcBef>
                <a:spcPts val="0"/>
              </a:spcBef>
              <a:spcAft>
                <a:spcPts val="0"/>
              </a:spcAft>
              <a:buSzPts val="2400"/>
              <a:buFont typeface="Inter"/>
              <a:buNone/>
              <a:defRPr b="1" sz="2400">
                <a:latin typeface="Inter"/>
                <a:ea typeface="Inter"/>
                <a:cs typeface="Inter"/>
                <a:sym typeface="Inter"/>
              </a:defRPr>
            </a:lvl3pPr>
            <a:lvl4pPr lvl="3" rtl="0" algn="ctr">
              <a:spcBef>
                <a:spcPts val="0"/>
              </a:spcBef>
              <a:spcAft>
                <a:spcPts val="0"/>
              </a:spcAft>
              <a:buSzPts val="2400"/>
              <a:buFont typeface="Inter"/>
              <a:buNone/>
              <a:defRPr b="1" sz="2400">
                <a:latin typeface="Inter"/>
                <a:ea typeface="Inter"/>
                <a:cs typeface="Inter"/>
                <a:sym typeface="Inter"/>
              </a:defRPr>
            </a:lvl4pPr>
            <a:lvl5pPr lvl="4" rtl="0" algn="ctr">
              <a:spcBef>
                <a:spcPts val="0"/>
              </a:spcBef>
              <a:spcAft>
                <a:spcPts val="0"/>
              </a:spcAft>
              <a:buSzPts val="2400"/>
              <a:buFont typeface="Inter"/>
              <a:buNone/>
              <a:defRPr b="1" sz="2400">
                <a:latin typeface="Inter"/>
                <a:ea typeface="Inter"/>
                <a:cs typeface="Inter"/>
                <a:sym typeface="Inter"/>
              </a:defRPr>
            </a:lvl5pPr>
            <a:lvl6pPr lvl="5" rtl="0" algn="ctr">
              <a:spcBef>
                <a:spcPts val="0"/>
              </a:spcBef>
              <a:spcAft>
                <a:spcPts val="0"/>
              </a:spcAft>
              <a:buSzPts val="2400"/>
              <a:buFont typeface="Inter"/>
              <a:buNone/>
              <a:defRPr b="1" sz="2400">
                <a:latin typeface="Inter"/>
                <a:ea typeface="Inter"/>
                <a:cs typeface="Inter"/>
                <a:sym typeface="Inter"/>
              </a:defRPr>
            </a:lvl6pPr>
            <a:lvl7pPr lvl="6" rtl="0" algn="ctr">
              <a:spcBef>
                <a:spcPts val="0"/>
              </a:spcBef>
              <a:spcAft>
                <a:spcPts val="0"/>
              </a:spcAft>
              <a:buSzPts val="2400"/>
              <a:buFont typeface="Inter"/>
              <a:buNone/>
              <a:defRPr b="1" sz="2400">
                <a:latin typeface="Inter"/>
                <a:ea typeface="Inter"/>
                <a:cs typeface="Inter"/>
                <a:sym typeface="Inter"/>
              </a:defRPr>
            </a:lvl7pPr>
            <a:lvl8pPr lvl="7" rtl="0" algn="ctr">
              <a:spcBef>
                <a:spcPts val="0"/>
              </a:spcBef>
              <a:spcAft>
                <a:spcPts val="0"/>
              </a:spcAft>
              <a:buSzPts val="2400"/>
              <a:buFont typeface="Inter"/>
              <a:buNone/>
              <a:defRPr b="1" sz="2400">
                <a:latin typeface="Inter"/>
                <a:ea typeface="Inter"/>
                <a:cs typeface="Inter"/>
                <a:sym typeface="Inter"/>
              </a:defRPr>
            </a:lvl8pPr>
            <a:lvl9pPr lvl="8" rtl="0" algn="ctr">
              <a:spcBef>
                <a:spcPts val="0"/>
              </a:spcBef>
              <a:spcAft>
                <a:spcPts val="0"/>
              </a:spcAft>
              <a:buSzPts val="2400"/>
              <a:buFont typeface="Inter"/>
              <a:buNone/>
              <a:defRPr b="1" sz="2400">
                <a:latin typeface="Inter"/>
                <a:ea typeface="Inter"/>
                <a:cs typeface="Inter"/>
                <a:sym typeface="Inter"/>
              </a:defRPr>
            </a:lvl9pPr>
          </a:lstStyle>
          <a:p/>
        </p:txBody>
      </p:sp>
      <p:sp>
        <p:nvSpPr>
          <p:cNvPr id="155" name="Google Shape;155;p26"/>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Font typeface="Inter"/>
              <a:buNone/>
              <a:defRPr b="1" sz="2200">
                <a:latin typeface="Inter"/>
                <a:ea typeface="Inter"/>
                <a:cs typeface="Inter"/>
                <a:sym typeface="Inter"/>
              </a:defRPr>
            </a:lvl1pPr>
            <a:lvl2pPr lvl="1" rtl="0" algn="ctr">
              <a:spcBef>
                <a:spcPts val="0"/>
              </a:spcBef>
              <a:spcAft>
                <a:spcPts val="0"/>
              </a:spcAft>
              <a:buSzPts val="2400"/>
              <a:buFont typeface="Inter"/>
              <a:buNone/>
              <a:defRPr b="1" sz="2400">
                <a:latin typeface="Inter"/>
                <a:ea typeface="Inter"/>
                <a:cs typeface="Inter"/>
                <a:sym typeface="Inter"/>
              </a:defRPr>
            </a:lvl2pPr>
            <a:lvl3pPr lvl="2" rtl="0" algn="ctr">
              <a:spcBef>
                <a:spcPts val="0"/>
              </a:spcBef>
              <a:spcAft>
                <a:spcPts val="0"/>
              </a:spcAft>
              <a:buSzPts val="2400"/>
              <a:buFont typeface="Inter"/>
              <a:buNone/>
              <a:defRPr b="1" sz="2400">
                <a:latin typeface="Inter"/>
                <a:ea typeface="Inter"/>
                <a:cs typeface="Inter"/>
                <a:sym typeface="Inter"/>
              </a:defRPr>
            </a:lvl3pPr>
            <a:lvl4pPr lvl="3" rtl="0" algn="ctr">
              <a:spcBef>
                <a:spcPts val="0"/>
              </a:spcBef>
              <a:spcAft>
                <a:spcPts val="0"/>
              </a:spcAft>
              <a:buSzPts val="2400"/>
              <a:buFont typeface="Inter"/>
              <a:buNone/>
              <a:defRPr b="1" sz="2400">
                <a:latin typeface="Inter"/>
                <a:ea typeface="Inter"/>
                <a:cs typeface="Inter"/>
                <a:sym typeface="Inter"/>
              </a:defRPr>
            </a:lvl4pPr>
            <a:lvl5pPr lvl="4" rtl="0" algn="ctr">
              <a:spcBef>
                <a:spcPts val="0"/>
              </a:spcBef>
              <a:spcAft>
                <a:spcPts val="0"/>
              </a:spcAft>
              <a:buSzPts val="2400"/>
              <a:buFont typeface="Inter"/>
              <a:buNone/>
              <a:defRPr b="1" sz="2400">
                <a:latin typeface="Inter"/>
                <a:ea typeface="Inter"/>
                <a:cs typeface="Inter"/>
                <a:sym typeface="Inter"/>
              </a:defRPr>
            </a:lvl5pPr>
            <a:lvl6pPr lvl="5" rtl="0" algn="ctr">
              <a:spcBef>
                <a:spcPts val="0"/>
              </a:spcBef>
              <a:spcAft>
                <a:spcPts val="0"/>
              </a:spcAft>
              <a:buSzPts val="2400"/>
              <a:buFont typeface="Inter"/>
              <a:buNone/>
              <a:defRPr b="1" sz="2400">
                <a:latin typeface="Inter"/>
                <a:ea typeface="Inter"/>
                <a:cs typeface="Inter"/>
                <a:sym typeface="Inter"/>
              </a:defRPr>
            </a:lvl6pPr>
            <a:lvl7pPr lvl="6" rtl="0" algn="ctr">
              <a:spcBef>
                <a:spcPts val="0"/>
              </a:spcBef>
              <a:spcAft>
                <a:spcPts val="0"/>
              </a:spcAft>
              <a:buSzPts val="2400"/>
              <a:buFont typeface="Inter"/>
              <a:buNone/>
              <a:defRPr b="1" sz="2400">
                <a:latin typeface="Inter"/>
                <a:ea typeface="Inter"/>
                <a:cs typeface="Inter"/>
                <a:sym typeface="Inter"/>
              </a:defRPr>
            </a:lvl7pPr>
            <a:lvl8pPr lvl="7" rtl="0" algn="ctr">
              <a:spcBef>
                <a:spcPts val="0"/>
              </a:spcBef>
              <a:spcAft>
                <a:spcPts val="0"/>
              </a:spcAft>
              <a:buSzPts val="2400"/>
              <a:buFont typeface="Inter"/>
              <a:buNone/>
              <a:defRPr b="1" sz="2400">
                <a:latin typeface="Inter"/>
                <a:ea typeface="Inter"/>
                <a:cs typeface="Inter"/>
                <a:sym typeface="Inter"/>
              </a:defRPr>
            </a:lvl8pPr>
            <a:lvl9pPr lvl="8" rtl="0"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1pPr>
            <a:lvl2pPr lvl="1"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2pPr>
            <a:lvl3pPr lvl="2"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3pPr>
            <a:lvl4pPr lvl="3"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4pPr>
            <a:lvl5pPr lvl="4"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5pPr>
            <a:lvl6pPr lvl="5"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6pPr>
            <a:lvl7pPr lvl="6"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7pPr>
            <a:lvl8pPr lvl="7"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8pPr>
            <a:lvl9pPr lvl="8"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1pPr>
            <a:lvl2pPr indent="-304800" lvl="1" marL="9144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2pPr>
            <a:lvl3pPr indent="-304800" lvl="2" marL="13716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3pPr>
            <a:lvl4pPr indent="-304800" lvl="3" marL="18288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4pPr>
            <a:lvl5pPr indent="-304800" lvl="4" marL="22860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5pPr>
            <a:lvl6pPr indent="-304800" lvl="5" marL="27432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6pPr>
            <a:lvl7pPr indent="-304800" lvl="6" marL="32004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7pPr>
            <a:lvl8pPr indent="-304800" lvl="7" marL="36576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8pPr>
            <a:lvl9pPr indent="-304800" lvl="8" marL="4114800">
              <a:lnSpc>
                <a:spcPct val="100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image" Target="../media/image17.png"/><Relationship Id="rId5" Type="http://schemas.openxmlformats.org/officeDocument/2006/relationships/image" Target="../media/image20.jp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comments" Target="../comments/commen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comments" Target="../comments/comment4.xml"/><Relationship Id="rId4" Type="http://schemas.openxmlformats.org/officeDocument/2006/relationships/image" Target="../media/image22.jp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comments" Target="../comments/comment5.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7"/>
          <p:cNvPicPr preferRelativeResize="0"/>
          <p:nvPr>
            <p:ph idx="2" type="pic"/>
          </p:nvPr>
        </p:nvPicPr>
        <p:blipFill rotWithShape="1">
          <a:blip r:embed="rId3">
            <a:alphaModFix/>
          </a:blip>
          <a:srcRect b="0" l="22215" r="33939" t="0"/>
          <a:stretch/>
        </p:blipFill>
        <p:spPr>
          <a:xfrm>
            <a:off x="5786400" y="539500"/>
            <a:ext cx="2787000" cy="4064400"/>
          </a:xfrm>
          <a:prstGeom prst="rect">
            <a:avLst/>
          </a:prstGeom>
        </p:spPr>
      </p:pic>
      <p:sp>
        <p:nvSpPr>
          <p:cNvPr id="161" name="Google Shape;161;p27"/>
          <p:cNvSpPr txBox="1"/>
          <p:nvPr>
            <p:ph type="ctrTitle"/>
          </p:nvPr>
        </p:nvSpPr>
        <p:spPr>
          <a:xfrm>
            <a:off x="713225" y="916776"/>
            <a:ext cx="4853100" cy="255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On Time, All Aboard: Analyzing WeGo Public Transit Adherence and Performance </a:t>
            </a:r>
            <a:endParaRPr sz="3200"/>
          </a:p>
        </p:txBody>
      </p:sp>
      <p:sp>
        <p:nvSpPr>
          <p:cNvPr id="162" name="Google Shape;162;p27"/>
          <p:cNvSpPr txBox="1"/>
          <p:nvPr>
            <p:ph idx="1" type="subTitle"/>
          </p:nvPr>
        </p:nvSpPr>
        <p:spPr>
          <a:xfrm>
            <a:off x="713225" y="3585113"/>
            <a:ext cx="48531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Wheel Hunting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p:nvPr/>
        </p:nvSpPr>
        <p:spPr>
          <a:xfrm flipH="1">
            <a:off x="0" y="0"/>
            <a:ext cx="3928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8" name="Google Shape;168;p28"/>
          <p:cNvSpPr txBox="1"/>
          <p:nvPr>
            <p:ph idx="2" type="title"/>
          </p:nvPr>
        </p:nvSpPr>
        <p:spPr>
          <a:xfrm>
            <a:off x="4450050" y="67715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69" name="Google Shape;169;p28"/>
          <p:cNvSpPr txBox="1"/>
          <p:nvPr>
            <p:ph idx="3" type="subTitle"/>
          </p:nvPr>
        </p:nvSpPr>
        <p:spPr>
          <a:xfrm>
            <a:off x="5282500" y="677150"/>
            <a:ext cx="3148200" cy="6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Overall On-Time Performance and Adherence Metrics</a:t>
            </a:r>
            <a:endParaRPr sz="1500"/>
          </a:p>
        </p:txBody>
      </p:sp>
      <p:sp>
        <p:nvSpPr>
          <p:cNvPr id="170" name="Google Shape;170;p28"/>
          <p:cNvSpPr txBox="1"/>
          <p:nvPr>
            <p:ph idx="4" type="title"/>
          </p:nvPr>
        </p:nvSpPr>
        <p:spPr>
          <a:xfrm>
            <a:off x="4450050" y="136010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71" name="Google Shape;171;p28"/>
          <p:cNvSpPr txBox="1"/>
          <p:nvPr>
            <p:ph idx="1" type="subTitle"/>
          </p:nvPr>
        </p:nvSpPr>
        <p:spPr>
          <a:xfrm>
            <a:off x="5282500" y="1360100"/>
            <a:ext cx="3148200" cy="6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Impact of Route, Direction, and Location on Punctuality</a:t>
            </a:r>
            <a:endParaRPr sz="1500"/>
          </a:p>
        </p:txBody>
      </p:sp>
      <p:sp>
        <p:nvSpPr>
          <p:cNvPr id="172" name="Google Shape;172;p28"/>
          <p:cNvSpPr txBox="1"/>
          <p:nvPr>
            <p:ph idx="5" type="title"/>
          </p:nvPr>
        </p:nvSpPr>
        <p:spPr>
          <a:xfrm>
            <a:off x="4450050" y="204305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73" name="Google Shape;173;p28"/>
          <p:cNvSpPr txBox="1"/>
          <p:nvPr>
            <p:ph idx="6" type="subTitle"/>
          </p:nvPr>
        </p:nvSpPr>
        <p:spPr>
          <a:xfrm>
            <a:off x="5282500" y="2043050"/>
            <a:ext cx="3148200" cy="6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How Time of Day and Day of Week Shape Adherence</a:t>
            </a:r>
            <a:endParaRPr sz="1500"/>
          </a:p>
        </p:txBody>
      </p:sp>
      <p:sp>
        <p:nvSpPr>
          <p:cNvPr id="174" name="Google Shape;174;p28"/>
          <p:cNvSpPr txBox="1"/>
          <p:nvPr>
            <p:ph idx="7" type="title"/>
          </p:nvPr>
        </p:nvSpPr>
        <p:spPr>
          <a:xfrm>
            <a:off x="4450050" y="272600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75" name="Google Shape;175;p28"/>
          <p:cNvSpPr txBox="1"/>
          <p:nvPr>
            <p:ph idx="8" type="subTitle"/>
          </p:nvPr>
        </p:nvSpPr>
        <p:spPr>
          <a:xfrm>
            <a:off x="5282500" y="2726000"/>
            <a:ext cx="3148200" cy="6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Quantifying the Influence of the Operator on Timeliness</a:t>
            </a:r>
            <a:endParaRPr sz="1500"/>
          </a:p>
        </p:txBody>
      </p:sp>
      <p:sp>
        <p:nvSpPr>
          <p:cNvPr id="176" name="Google Shape;176;p28"/>
          <p:cNvSpPr txBox="1"/>
          <p:nvPr>
            <p:ph idx="9" type="title"/>
          </p:nvPr>
        </p:nvSpPr>
        <p:spPr>
          <a:xfrm>
            <a:off x="4450050" y="340895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77" name="Google Shape;177;p28"/>
          <p:cNvSpPr txBox="1"/>
          <p:nvPr>
            <p:ph idx="13" type="subTitle"/>
          </p:nvPr>
        </p:nvSpPr>
        <p:spPr>
          <a:xfrm>
            <a:off x="5282500" y="3408950"/>
            <a:ext cx="3148200" cy="6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Correlation Between Lateness and Headway</a:t>
            </a:r>
            <a:endParaRPr sz="1500"/>
          </a:p>
        </p:txBody>
      </p:sp>
      <p:sp>
        <p:nvSpPr>
          <p:cNvPr id="178" name="Google Shape;178;p28"/>
          <p:cNvSpPr txBox="1"/>
          <p:nvPr>
            <p:ph idx="14" type="title"/>
          </p:nvPr>
        </p:nvSpPr>
        <p:spPr>
          <a:xfrm>
            <a:off x="4450050" y="409190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179" name="Google Shape;179;p28"/>
          <p:cNvSpPr txBox="1"/>
          <p:nvPr>
            <p:ph idx="15" type="subTitle"/>
          </p:nvPr>
        </p:nvSpPr>
        <p:spPr>
          <a:xfrm>
            <a:off x="5282500" y="4091900"/>
            <a:ext cx="3148200" cy="6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Conclusion</a:t>
            </a:r>
            <a:endParaRPr sz="1500"/>
          </a:p>
        </p:txBody>
      </p:sp>
      <p:sp>
        <p:nvSpPr>
          <p:cNvPr id="180" name="Google Shape;180;p28"/>
          <p:cNvSpPr txBox="1"/>
          <p:nvPr>
            <p:ph type="title"/>
          </p:nvPr>
        </p:nvSpPr>
        <p:spPr>
          <a:xfrm>
            <a:off x="713225" y="1953900"/>
            <a:ext cx="3329100" cy="123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Table of contents</a:t>
            </a:r>
            <a:endParaRPr/>
          </a:p>
        </p:txBody>
      </p:sp>
      <p:cxnSp>
        <p:nvCxnSpPr>
          <p:cNvPr id="181" name="Google Shape;181;p28"/>
          <p:cNvCxnSpPr/>
          <p:nvPr/>
        </p:nvCxnSpPr>
        <p:spPr>
          <a:xfrm rot="10800000">
            <a:off x="4515600" y="1159950"/>
            <a:ext cx="603600" cy="0"/>
          </a:xfrm>
          <a:prstGeom prst="straightConnector1">
            <a:avLst/>
          </a:prstGeom>
          <a:noFill/>
          <a:ln cap="flat" cmpd="sng" w="28575">
            <a:solidFill>
              <a:schemeClr val="dk2"/>
            </a:solidFill>
            <a:prstDash val="solid"/>
            <a:round/>
            <a:headEnd len="med" w="med" type="none"/>
            <a:tailEnd len="med" w="med" type="none"/>
          </a:ln>
        </p:spPr>
      </p:cxnSp>
      <p:cxnSp>
        <p:nvCxnSpPr>
          <p:cNvPr id="182" name="Google Shape;182;p28"/>
          <p:cNvCxnSpPr/>
          <p:nvPr/>
        </p:nvCxnSpPr>
        <p:spPr>
          <a:xfrm rot="10800000">
            <a:off x="4515600" y="4579750"/>
            <a:ext cx="603600" cy="0"/>
          </a:xfrm>
          <a:prstGeom prst="straightConnector1">
            <a:avLst/>
          </a:prstGeom>
          <a:noFill/>
          <a:ln cap="flat" cmpd="sng" w="28575">
            <a:solidFill>
              <a:schemeClr val="dk2"/>
            </a:solidFill>
            <a:prstDash val="solid"/>
            <a:round/>
            <a:headEnd len="med" w="med" type="none"/>
            <a:tailEnd len="med" w="med" type="none"/>
          </a:ln>
        </p:spPr>
      </p:cxnSp>
      <p:cxnSp>
        <p:nvCxnSpPr>
          <p:cNvPr id="183" name="Google Shape;183;p28"/>
          <p:cNvCxnSpPr/>
          <p:nvPr/>
        </p:nvCxnSpPr>
        <p:spPr>
          <a:xfrm rot="10800000">
            <a:off x="4515600" y="1843910"/>
            <a:ext cx="603600" cy="0"/>
          </a:xfrm>
          <a:prstGeom prst="straightConnector1">
            <a:avLst/>
          </a:prstGeom>
          <a:noFill/>
          <a:ln cap="flat" cmpd="sng" w="28575">
            <a:solidFill>
              <a:schemeClr val="dk2"/>
            </a:solidFill>
            <a:prstDash val="solid"/>
            <a:round/>
            <a:headEnd len="med" w="med" type="none"/>
            <a:tailEnd len="med" w="med" type="none"/>
          </a:ln>
        </p:spPr>
      </p:cxnSp>
      <p:cxnSp>
        <p:nvCxnSpPr>
          <p:cNvPr id="184" name="Google Shape;184;p28"/>
          <p:cNvCxnSpPr/>
          <p:nvPr/>
        </p:nvCxnSpPr>
        <p:spPr>
          <a:xfrm rot="10800000">
            <a:off x="4515600" y="2527870"/>
            <a:ext cx="603600" cy="0"/>
          </a:xfrm>
          <a:prstGeom prst="straightConnector1">
            <a:avLst/>
          </a:prstGeom>
          <a:noFill/>
          <a:ln cap="flat" cmpd="sng" w="28575">
            <a:solidFill>
              <a:schemeClr val="dk2"/>
            </a:solidFill>
            <a:prstDash val="solid"/>
            <a:round/>
            <a:headEnd len="med" w="med" type="none"/>
            <a:tailEnd len="med" w="med" type="none"/>
          </a:ln>
        </p:spPr>
      </p:cxnSp>
      <p:cxnSp>
        <p:nvCxnSpPr>
          <p:cNvPr id="185" name="Google Shape;185;p28"/>
          <p:cNvCxnSpPr/>
          <p:nvPr/>
        </p:nvCxnSpPr>
        <p:spPr>
          <a:xfrm rot="10800000">
            <a:off x="4515600" y="3211830"/>
            <a:ext cx="603600" cy="0"/>
          </a:xfrm>
          <a:prstGeom prst="straightConnector1">
            <a:avLst/>
          </a:prstGeom>
          <a:noFill/>
          <a:ln cap="flat" cmpd="sng" w="28575">
            <a:solidFill>
              <a:schemeClr val="dk2"/>
            </a:solidFill>
            <a:prstDash val="solid"/>
            <a:round/>
            <a:headEnd len="med" w="med" type="none"/>
            <a:tailEnd len="med" w="med" type="none"/>
          </a:ln>
        </p:spPr>
      </p:cxnSp>
      <p:cxnSp>
        <p:nvCxnSpPr>
          <p:cNvPr id="186" name="Google Shape;186;p28"/>
          <p:cNvCxnSpPr/>
          <p:nvPr/>
        </p:nvCxnSpPr>
        <p:spPr>
          <a:xfrm rot="10800000">
            <a:off x="4515600" y="3895790"/>
            <a:ext cx="603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Rhythms of Transit</a:t>
            </a:r>
            <a:endParaRPr/>
          </a:p>
        </p:txBody>
      </p:sp>
      <p:sp>
        <p:nvSpPr>
          <p:cNvPr id="192" name="Google Shape;192;p29"/>
          <p:cNvSpPr txBox="1"/>
          <p:nvPr>
            <p:ph idx="4294967295" type="title"/>
          </p:nvPr>
        </p:nvSpPr>
        <p:spPr>
          <a:xfrm>
            <a:off x="6552456" y="1347650"/>
            <a:ext cx="1673100" cy="35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On time</a:t>
            </a:r>
            <a:endParaRPr sz="1800"/>
          </a:p>
        </p:txBody>
      </p:sp>
      <p:sp>
        <p:nvSpPr>
          <p:cNvPr id="193" name="Google Shape;193;p29"/>
          <p:cNvSpPr/>
          <p:nvPr/>
        </p:nvSpPr>
        <p:spPr>
          <a:xfrm>
            <a:off x="6327956" y="1435400"/>
            <a:ext cx="183300" cy="183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9"/>
          <p:cNvSpPr txBox="1"/>
          <p:nvPr>
            <p:ph idx="4294967295" type="title"/>
          </p:nvPr>
        </p:nvSpPr>
        <p:spPr>
          <a:xfrm>
            <a:off x="6552456" y="1932116"/>
            <a:ext cx="1673100" cy="35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Early</a:t>
            </a:r>
            <a:endParaRPr sz="1800"/>
          </a:p>
        </p:txBody>
      </p:sp>
      <p:sp>
        <p:nvSpPr>
          <p:cNvPr id="195" name="Google Shape;195;p29"/>
          <p:cNvSpPr/>
          <p:nvPr/>
        </p:nvSpPr>
        <p:spPr>
          <a:xfrm>
            <a:off x="6327956" y="2019866"/>
            <a:ext cx="183300" cy="18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9"/>
          <p:cNvSpPr txBox="1"/>
          <p:nvPr>
            <p:ph idx="4294967295" type="title"/>
          </p:nvPr>
        </p:nvSpPr>
        <p:spPr>
          <a:xfrm>
            <a:off x="6552456" y="2516581"/>
            <a:ext cx="1673100" cy="35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Late</a:t>
            </a:r>
            <a:endParaRPr sz="1800"/>
          </a:p>
        </p:txBody>
      </p:sp>
      <p:sp>
        <p:nvSpPr>
          <p:cNvPr id="197" name="Google Shape;197;p29"/>
          <p:cNvSpPr/>
          <p:nvPr/>
        </p:nvSpPr>
        <p:spPr>
          <a:xfrm>
            <a:off x="6327956" y="2604331"/>
            <a:ext cx="183300" cy="183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 name="Google Shape;198;p29" title="Chart"/>
          <p:cNvPicPr preferRelativeResize="0"/>
          <p:nvPr/>
        </p:nvPicPr>
        <p:blipFill>
          <a:blip r:embed="rId4">
            <a:alphaModFix/>
          </a:blip>
          <a:stretch>
            <a:fillRect/>
          </a:stretch>
        </p:blipFill>
        <p:spPr>
          <a:xfrm>
            <a:off x="152400" y="1170125"/>
            <a:ext cx="6023157" cy="3724319"/>
          </a:xfrm>
          <a:prstGeom prst="rect">
            <a:avLst/>
          </a:prstGeom>
          <a:noFill/>
          <a:ln>
            <a:noFill/>
          </a:ln>
        </p:spPr>
      </p:pic>
      <p:sp>
        <p:nvSpPr>
          <p:cNvPr id="199" name="Google Shape;199;p29"/>
          <p:cNvSpPr txBox="1"/>
          <p:nvPr/>
        </p:nvSpPr>
        <p:spPr>
          <a:xfrm>
            <a:off x="720000" y="1033725"/>
            <a:ext cx="54555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Medium"/>
                <a:ea typeface="Albert Sans Medium"/>
                <a:cs typeface="Albert Sans Medium"/>
                <a:sym typeface="Albert Sans Medium"/>
              </a:rPr>
              <a:t>Overall Bus Stop Timeliness</a:t>
            </a:r>
            <a:endParaRPr sz="12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0" title="AdherenceSansOutliers.png"/>
          <p:cNvPicPr preferRelativeResize="0"/>
          <p:nvPr/>
        </p:nvPicPr>
        <p:blipFill>
          <a:blip r:embed="rId4">
            <a:alphaModFix/>
          </a:blip>
          <a:stretch>
            <a:fillRect/>
          </a:stretch>
        </p:blipFill>
        <p:spPr>
          <a:xfrm>
            <a:off x="2577949" y="1770112"/>
            <a:ext cx="3000025" cy="3112550"/>
          </a:xfrm>
          <a:prstGeom prst="rect">
            <a:avLst/>
          </a:prstGeom>
          <a:noFill/>
          <a:ln>
            <a:noFill/>
          </a:ln>
        </p:spPr>
      </p:pic>
      <p:sp>
        <p:nvSpPr>
          <p:cNvPr id="205" name="Google Shape;205;p30"/>
          <p:cNvSpPr/>
          <p:nvPr/>
        </p:nvSpPr>
        <p:spPr>
          <a:xfrm flipH="1">
            <a:off x="521580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6" name="Google Shape;206;p30"/>
          <p:cNvSpPr txBox="1"/>
          <p:nvPr>
            <p:ph type="title"/>
          </p:nvPr>
        </p:nvSpPr>
        <p:spPr>
          <a:xfrm>
            <a:off x="735775" y="642100"/>
            <a:ext cx="4316400" cy="96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Rhythms of Transit</a:t>
            </a:r>
            <a:endParaRPr/>
          </a:p>
        </p:txBody>
      </p:sp>
      <p:pic>
        <p:nvPicPr>
          <p:cNvPr id="207" name="Google Shape;207;p30"/>
          <p:cNvPicPr preferRelativeResize="0"/>
          <p:nvPr>
            <p:ph idx="2" type="pic"/>
          </p:nvPr>
        </p:nvPicPr>
        <p:blipFill rotWithShape="1">
          <a:blip r:embed="rId5">
            <a:alphaModFix/>
          </a:blip>
          <a:srcRect b="1399" l="0" r="0" t="1399"/>
          <a:stretch/>
        </p:blipFill>
        <p:spPr>
          <a:xfrm>
            <a:off x="5786400" y="539500"/>
            <a:ext cx="2786999" cy="4064502"/>
          </a:xfrm>
          <a:prstGeom prst="rect">
            <a:avLst/>
          </a:prstGeom>
        </p:spPr>
      </p:pic>
      <p:sp>
        <p:nvSpPr>
          <p:cNvPr id="208" name="Google Shape;208;p30"/>
          <p:cNvSpPr txBox="1"/>
          <p:nvPr/>
        </p:nvSpPr>
        <p:spPr>
          <a:xfrm>
            <a:off x="735775" y="1500275"/>
            <a:ext cx="44799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Medium"/>
                <a:ea typeface="Albert Sans Medium"/>
                <a:cs typeface="Albert Sans Medium"/>
                <a:sym typeface="Albert Sans Medium"/>
              </a:rPr>
              <a:t>Distribution of Adherence</a:t>
            </a:r>
            <a:endParaRPr sz="1200">
              <a:solidFill>
                <a:schemeClr val="dk1"/>
              </a:solidFill>
              <a:latin typeface="Albert Sans Medium"/>
              <a:ea typeface="Albert Sans Medium"/>
              <a:cs typeface="Albert Sans Medium"/>
              <a:sym typeface="Albert Sans Medium"/>
            </a:endParaRPr>
          </a:p>
        </p:txBody>
      </p:sp>
      <p:pic>
        <p:nvPicPr>
          <p:cNvPr id="209" name="Google Shape;209;p30" title="AdherenceBoxplot.png"/>
          <p:cNvPicPr preferRelativeResize="0"/>
          <p:nvPr/>
        </p:nvPicPr>
        <p:blipFill>
          <a:blip r:embed="rId6">
            <a:alphaModFix/>
          </a:blip>
          <a:stretch>
            <a:fillRect/>
          </a:stretch>
        </p:blipFill>
        <p:spPr>
          <a:xfrm>
            <a:off x="0" y="1965012"/>
            <a:ext cx="2577950" cy="2722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p:nvPr/>
        </p:nvSpPr>
        <p:spPr>
          <a:xfrm flipH="1">
            <a:off x="5361450" y="178100"/>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15" name="Google Shape;215;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Delays By Route</a:t>
            </a:r>
            <a:endParaRPr/>
          </a:p>
        </p:txBody>
      </p:sp>
      <p:pic>
        <p:nvPicPr>
          <p:cNvPr id="216" name="Google Shape;216;p31" title="witch route.png"/>
          <p:cNvPicPr preferRelativeResize="0"/>
          <p:nvPr/>
        </p:nvPicPr>
        <p:blipFill>
          <a:blip r:embed="rId3">
            <a:alphaModFix/>
          </a:blip>
          <a:stretch>
            <a:fillRect/>
          </a:stretch>
        </p:blipFill>
        <p:spPr>
          <a:xfrm>
            <a:off x="664175" y="1058050"/>
            <a:ext cx="7499000" cy="4085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p:nvPr/>
        </p:nvSpPr>
        <p:spPr>
          <a:xfrm flipH="1">
            <a:off x="521580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2" name="Google Shape;222;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Delays by to and fro</a:t>
            </a:r>
            <a:endParaRPr/>
          </a:p>
        </p:txBody>
      </p:sp>
      <p:pic>
        <p:nvPicPr>
          <p:cNvPr id="223" name="Google Shape;223;p32" title="da routes.png"/>
          <p:cNvPicPr preferRelativeResize="0"/>
          <p:nvPr/>
        </p:nvPicPr>
        <p:blipFill>
          <a:blip r:embed="rId3">
            <a:alphaModFix/>
          </a:blip>
          <a:stretch>
            <a:fillRect/>
          </a:stretch>
        </p:blipFill>
        <p:spPr>
          <a:xfrm>
            <a:off x="1034875" y="1072250"/>
            <a:ext cx="6541351" cy="4071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p:nvPr/>
        </p:nvSpPr>
        <p:spPr>
          <a:xfrm flipH="1">
            <a:off x="521580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9" name="Google Shape;229;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Does my block matter?</a:t>
            </a:r>
            <a:endParaRPr/>
          </a:p>
        </p:txBody>
      </p:sp>
      <p:pic>
        <p:nvPicPr>
          <p:cNvPr id="230" name="Google Shape;230;p33" title="Filename.png"/>
          <p:cNvPicPr preferRelativeResize="0"/>
          <p:nvPr/>
        </p:nvPicPr>
        <p:blipFill>
          <a:blip r:embed="rId3">
            <a:alphaModFix/>
          </a:blip>
          <a:stretch>
            <a:fillRect/>
          </a:stretch>
        </p:blipFill>
        <p:spPr>
          <a:xfrm>
            <a:off x="862925" y="1017725"/>
            <a:ext cx="6157274" cy="404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WeGo Public Transit </a:t>
            </a:r>
            <a:r>
              <a:rPr lang="en"/>
              <a:t>On Time % Hourly</a:t>
            </a:r>
            <a:endParaRPr/>
          </a:p>
        </p:txBody>
      </p:sp>
      <p:pic>
        <p:nvPicPr>
          <p:cNvPr id="236" name="Google Shape;236;p34" title="on time.png"/>
          <p:cNvPicPr preferRelativeResize="0"/>
          <p:nvPr/>
        </p:nvPicPr>
        <p:blipFill>
          <a:blip r:embed="rId4">
            <a:alphaModFix/>
          </a:blip>
          <a:stretch>
            <a:fillRect/>
          </a:stretch>
        </p:blipFill>
        <p:spPr>
          <a:xfrm>
            <a:off x="0" y="1456500"/>
            <a:ext cx="7928899" cy="3585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Mean </a:t>
            </a:r>
            <a:r>
              <a:rPr lang="en"/>
              <a:t>Adherence (Hourly X Weekday)</a:t>
            </a:r>
            <a:r>
              <a:rPr lang="en"/>
              <a:t> </a:t>
            </a:r>
            <a:endParaRPr/>
          </a:p>
        </p:txBody>
      </p:sp>
      <p:pic>
        <p:nvPicPr>
          <p:cNvPr id="242" name="Google Shape;242;p35" title="meanad.png"/>
          <p:cNvPicPr preferRelativeResize="0"/>
          <p:nvPr/>
        </p:nvPicPr>
        <p:blipFill>
          <a:blip r:embed="rId3">
            <a:alphaModFix/>
          </a:blip>
          <a:stretch>
            <a:fillRect/>
          </a:stretch>
        </p:blipFill>
        <p:spPr>
          <a:xfrm>
            <a:off x="0" y="1187800"/>
            <a:ext cx="9144001" cy="3955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Number of Records Per Time Period </a:t>
            </a:r>
            <a:endParaRPr/>
          </a:p>
        </p:txBody>
      </p:sp>
      <p:pic>
        <p:nvPicPr>
          <p:cNvPr id="248" name="Google Shape;248;p36" title="NumberofRecords.png"/>
          <p:cNvPicPr preferRelativeResize="0"/>
          <p:nvPr/>
        </p:nvPicPr>
        <p:blipFill>
          <a:blip r:embed="rId3">
            <a:alphaModFix/>
          </a:blip>
          <a:stretch>
            <a:fillRect/>
          </a:stretch>
        </p:blipFill>
        <p:spPr>
          <a:xfrm>
            <a:off x="0" y="1130350"/>
            <a:ext cx="8861973" cy="40131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7" title="WeGo_bar chart_Top 10 Operators on-time.png"/>
          <p:cNvPicPr preferRelativeResize="0"/>
          <p:nvPr/>
        </p:nvPicPr>
        <p:blipFill>
          <a:blip r:embed="rId3">
            <a:alphaModFix/>
          </a:blip>
          <a:stretch>
            <a:fillRect/>
          </a:stretch>
        </p:blipFill>
        <p:spPr>
          <a:xfrm>
            <a:off x="12950" y="1131652"/>
            <a:ext cx="5115349" cy="3842516"/>
          </a:xfrm>
          <a:prstGeom prst="rect">
            <a:avLst/>
          </a:prstGeom>
          <a:noFill/>
          <a:ln>
            <a:noFill/>
          </a:ln>
        </p:spPr>
      </p:pic>
      <p:sp>
        <p:nvSpPr>
          <p:cNvPr id="254" name="Google Shape;254;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Influence of the Operator on Timeliness</a:t>
            </a:r>
            <a:endParaRPr sz="2900"/>
          </a:p>
        </p:txBody>
      </p:sp>
      <p:pic>
        <p:nvPicPr>
          <p:cNvPr id="255" name="Google Shape;255;p37" title="WeGo_Operator % Left Ontime_head(10).png"/>
          <p:cNvPicPr preferRelativeResize="0"/>
          <p:nvPr/>
        </p:nvPicPr>
        <p:blipFill>
          <a:blip r:embed="rId4">
            <a:alphaModFix/>
          </a:blip>
          <a:stretch>
            <a:fillRect/>
          </a:stretch>
        </p:blipFill>
        <p:spPr>
          <a:xfrm>
            <a:off x="3976132" y="2684998"/>
            <a:ext cx="5115351" cy="1829477"/>
          </a:xfrm>
          <a:prstGeom prst="rect">
            <a:avLst/>
          </a:prstGeom>
          <a:noFill/>
          <a:ln>
            <a:noFill/>
          </a:ln>
        </p:spPr>
      </p:pic>
      <p:sp>
        <p:nvSpPr>
          <p:cNvPr id="256" name="Google Shape;256;p37"/>
          <p:cNvSpPr/>
          <p:nvPr/>
        </p:nvSpPr>
        <p:spPr>
          <a:xfrm>
            <a:off x="4478775" y="1447350"/>
            <a:ext cx="299100" cy="11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Medium"/>
              <a:ea typeface="Albert Sans Medium"/>
              <a:cs typeface="Albert Sans Medium"/>
              <a:sym typeface="Albert Sans Medium"/>
            </a:endParaRPr>
          </a:p>
        </p:txBody>
      </p:sp>
      <p:sp>
        <p:nvSpPr>
          <p:cNvPr id="257" name="Google Shape;257;p37"/>
          <p:cNvSpPr/>
          <p:nvPr/>
        </p:nvSpPr>
        <p:spPr>
          <a:xfrm>
            <a:off x="4394700" y="1427425"/>
            <a:ext cx="647400" cy="52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Medium"/>
              <a:ea typeface="Albert Sans Medium"/>
              <a:cs typeface="Albert Sans Medium"/>
              <a:sym typeface="Albert Sans Medium"/>
            </a:endParaRPr>
          </a:p>
        </p:txBody>
      </p:sp>
      <p:sp>
        <p:nvSpPr>
          <p:cNvPr id="258" name="Google Shape;258;p37"/>
          <p:cNvSpPr txBox="1"/>
          <p:nvPr/>
        </p:nvSpPr>
        <p:spPr>
          <a:xfrm>
            <a:off x="4375562" y="1449023"/>
            <a:ext cx="581100" cy="444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Early</a:t>
            </a:r>
            <a:endParaRPr sz="7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Late</a:t>
            </a:r>
            <a:endParaRPr sz="7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On Time</a:t>
            </a:r>
            <a:endParaRPr sz="7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38" title="WeGo_bar chart_Top 10 Operators left early.png"/>
          <p:cNvPicPr preferRelativeResize="0"/>
          <p:nvPr/>
        </p:nvPicPr>
        <p:blipFill>
          <a:blip r:embed="rId3">
            <a:alphaModFix/>
          </a:blip>
          <a:stretch>
            <a:fillRect/>
          </a:stretch>
        </p:blipFill>
        <p:spPr>
          <a:xfrm>
            <a:off x="3000" y="1140244"/>
            <a:ext cx="5043976" cy="3804301"/>
          </a:xfrm>
          <a:prstGeom prst="rect">
            <a:avLst/>
          </a:prstGeom>
          <a:noFill/>
          <a:ln>
            <a:noFill/>
          </a:ln>
        </p:spPr>
      </p:pic>
      <p:sp>
        <p:nvSpPr>
          <p:cNvPr id="264" name="Google Shape;264;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Influence of the Operator on Timeliness</a:t>
            </a:r>
            <a:endParaRPr sz="2900"/>
          </a:p>
        </p:txBody>
      </p:sp>
      <p:pic>
        <p:nvPicPr>
          <p:cNvPr id="265" name="Google Shape;265;p38" title="WeGo_Operator % Left Early_head(10).png"/>
          <p:cNvPicPr preferRelativeResize="0"/>
          <p:nvPr/>
        </p:nvPicPr>
        <p:blipFill>
          <a:blip r:embed="rId4">
            <a:alphaModFix/>
          </a:blip>
          <a:stretch>
            <a:fillRect/>
          </a:stretch>
        </p:blipFill>
        <p:spPr>
          <a:xfrm>
            <a:off x="3923425" y="2677137"/>
            <a:ext cx="5220575" cy="1833925"/>
          </a:xfrm>
          <a:prstGeom prst="rect">
            <a:avLst/>
          </a:prstGeom>
          <a:noFill/>
          <a:ln>
            <a:noFill/>
          </a:ln>
        </p:spPr>
      </p:pic>
      <p:sp>
        <p:nvSpPr>
          <p:cNvPr id="266" name="Google Shape;266;p38"/>
          <p:cNvSpPr/>
          <p:nvPr/>
        </p:nvSpPr>
        <p:spPr>
          <a:xfrm>
            <a:off x="4444599" y="1447350"/>
            <a:ext cx="299100" cy="11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Medium"/>
              <a:ea typeface="Albert Sans Medium"/>
              <a:cs typeface="Albert Sans Medium"/>
              <a:sym typeface="Albert Sans Medium"/>
            </a:endParaRPr>
          </a:p>
        </p:txBody>
      </p:sp>
      <p:sp>
        <p:nvSpPr>
          <p:cNvPr id="267" name="Google Shape;267;p38"/>
          <p:cNvSpPr/>
          <p:nvPr/>
        </p:nvSpPr>
        <p:spPr>
          <a:xfrm>
            <a:off x="4384746" y="1518025"/>
            <a:ext cx="607500" cy="448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Medium"/>
              <a:ea typeface="Albert Sans Medium"/>
              <a:cs typeface="Albert Sans Medium"/>
              <a:sym typeface="Albert Sans Medium"/>
            </a:endParaRPr>
          </a:p>
        </p:txBody>
      </p:sp>
      <p:sp>
        <p:nvSpPr>
          <p:cNvPr id="268" name="Google Shape;268;p38"/>
          <p:cNvSpPr txBox="1"/>
          <p:nvPr/>
        </p:nvSpPr>
        <p:spPr>
          <a:xfrm>
            <a:off x="4325760" y="1463110"/>
            <a:ext cx="581100" cy="444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Early</a:t>
            </a:r>
            <a:endParaRPr sz="7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Late</a:t>
            </a:r>
            <a:endParaRPr sz="7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On Time</a:t>
            </a:r>
            <a:endParaRPr sz="7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39" title="WeGo_bar chart_Top 10 Operators left late.png"/>
          <p:cNvPicPr preferRelativeResize="0"/>
          <p:nvPr/>
        </p:nvPicPr>
        <p:blipFill>
          <a:blip r:embed="rId3">
            <a:alphaModFix/>
          </a:blip>
          <a:stretch>
            <a:fillRect/>
          </a:stretch>
        </p:blipFill>
        <p:spPr>
          <a:xfrm>
            <a:off x="3000" y="1140254"/>
            <a:ext cx="5094674" cy="3834150"/>
          </a:xfrm>
          <a:prstGeom prst="rect">
            <a:avLst/>
          </a:prstGeom>
          <a:noFill/>
          <a:ln>
            <a:noFill/>
          </a:ln>
        </p:spPr>
      </p:pic>
      <p:sp>
        <p:nvSpPr>
          <p:cNvPr id="274" name="Google Shape;274;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Influence of the Operator on Timeliness</a:t>
            </a:r>
            <a:endParaRPr sz="2900"/>
          </a:p>
        </p:txBody>
      </p:sp>
      <p:pic>
        <p:nvPicPr>
          <p:cNvPr id="275" name="Google Shape;275;p39" title="WeGo_Operator % Left Late_head(10).png"/>
          <p:cNvPicPr preferRelativeResize="0"/>
          <p:nvPr/>
        </p:nvPicPr>
        <p:blipFill>
          <a:blip r:embed="rId4">
            <a:alphaModFix/>
          </a:blip>
          <a:stretch>
            <a:fillRect/>
          </a:stretch>
        </p:blipFill>
        <p:spPr>
          <a:xfrm>
            <a:off x="3957600" y="2703451"/>
            <a:ext cx="5186401" cy="1845325"/>
          </a:xfrm>
          <a:prstGeom prst="rect">
            <a:avLst/>
          </a:prstGeom>
          <a:noFill/>
          <a:ln>
            <a:noFill/>
          </a:ln>
        </p:spPr>
      </p:pic>
      <p:sp>
        <p:nvSpPr>
          <p:cNvPr id="276" name="Google Shape;276;p39"/>
          <p:cNvSpPr/>
          <p:nvPr/>
        </p:nvSpPr>
        <p:spPr>
          <a:xfrm>
            <a:off x="4478775" y="1455894"/>
            <a:ext cx="299100" cy="11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Medium"/>
              <a:ea typeface="Albert Sans Medium"/>
              <a:cs typeface="Albert Sans Medium"/>
              <a:sym typeface="Albert Sans Medium"/>
            </a:endParaRPr>
          </a:p>
        </p:txBody>
      </p:sp>
      <p:sp>
        <p:nvSpPr>
          <p:cNvPr id="277" name="Google Shape;277;p39"/>
          <p:cNvSpPr/>
          <p:nvPr/>
        </p:nvSpPr>
        <p:spPr>
          <a:xfrm>
            <a:off x="4414625" y="1448300"/>
            <a:ext cx="607500" cy="50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Medium"/>
              <a:ea typeface="Albert Sans Medium"/>
              <a:cs typeface="Albert Sans Medium"/>
              <a:sym typeface="Albert Sans Medium"/>
            </a:endParaRPr>
          </a:p>
        </p:txBody>
      </p:sp>
      <p:sp>
        <p:nvSpPr>
          <p:cNvPr id="278" name="Google Shape;278;p39"/>
          <p:cNvSpPr txBox="1"/>
          <p:nvPr/>
        </p:nvSpPr>
        <p:spPr>
          <a:xfrm>
            <a:off x="4335721" y="1463110"/>
            <a:ext cx="581100" cy="444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Early</a:t>
            </a:r>
            <a:endParaRPr sz="7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Late</a:t>
            </a:r>
            <a:endParaRPr sz="7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00">
              <a:solidFill>
                <a:schemeClr val="dk1"/>
              </a:solidFill>
              <a:latin typeface="Albert Sans Medium"/>
              <a:ea typeface="Albert Sans Medium"/>
              <a:cs typeface="Albert Sans Medium"/>
              <a:sym typeface="Albert Sans Medium"/>
            </a:endParaRPr>
          </a:p>
          <a:p>
            <a:pPr indent="0" lvl="0" marL="0" rtl="0" algn="l">
              <a:spcBef>
                <a:spcPts val="0"/>
              </a:spcBef>
              <a:spcAft>
                <a:spcPts val="0"/>
              </a:spcAft>
              <a:buNone/>
            </a:pPr>
            <a:r>
              <a:rPr lang="en" sz="700">
                <a:solidFill>
                  <a:schemeClr val="dk1"/>
                </a:solidFill>
                <a:latin typeface="Albert Sans Medium"/>
                <a:ea typeface="Albert Sans Medium"/>
                <a:cs typeface="Albert Sans Medium"/>
                <a:sym typeface="Albert Sans Medium"/>
              </a:rPr>
              <a:t>On Time</a:t>
            </a:r>
            <a:endParaRPr sz="7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Influence of the Operator on Timeliness</a:t>
            </a:r>
            <a:endParaRPr sz="2900"/>
          </a:p>
        </p:txBody>
      </p:sp>
      <p:pic>
        <p:nvPicPr>
          <p:cNvPr id="284" name="Google Shape;284;p40" title="WeGo_correlation table.png"/>
          <p:cNvPicPr preferRelativeResize="0"/>
          <p:nvPr/>
        </p:nvPicPr>
        <p:blipFill>
          <a:blip r:embed="rId3">
            <a:alphaModFix/>
          </a:blip>
          <a:stretch>
            <a:fillRect/>
          </a:stretch>
        </p:blipFill>
        <p:spPr>
          <a:xfrm>
            <a:off x="152400" y="1170125"/>
            <a:ext cx="3524250" cy="3476625"/>
          </a:xfrm>
          <a:prstGeom prst="rect">
            <a:avLst/>
          </a:prstGeom>
          <a:noFill/>
          <a:ln>
            <a:noFill/>
          </a:ln>
        </p:spPr>
      </p:pic>
      <p:sp>
        <p:nvSpPr>
          <p:cNvPr id="285" name="Google Shape;285;p40"/>
          <p:cNvSpPr txBox="1"/>
          <p:nvPr/>
        </p:nvSpPr>
        <p:spPr>
          <a:xfrm>
            <a:off x="4016200" y="1308850"/>
            <a:ext cx="4880700" cy="3337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Albert Sans Medium"/>
              <a:buChar char="●"/>
            </a:pPr>
            <a:r>
              <a:rPr lang="en" sz="1700">
                <a:solidFill>
                  <a:schemeClr val="dk1"/>
                </a:solidFill>
                <a:latin typeface="Albert Sans Medium"/>
                <a:ea typeface="Albert Sans Medium"/>
                <a:cs typeface="Albert Sans Medium"/>
                <a:sym typeface="Albert Sans Medium"/>
              </a:rPr>
              <a:t>Some Operators frequently leave early or they leave late. </a:t>
            </a:r>
            <a:endParaRPr sz="1700">
              <a:solidFill>
                <a:schemeClr val="dk1"/>
              </a:solidFill>
              <a:latin typeface="Albert Sans Medium"/>
              <a:ea typeface="Albert Sans Medium"/>
              <a:cs typeface="Albert Sans Medium"/>
              <a:sym typeface="Albert Sans Medium"/>
            </a:endParaRPr>
          </a:p>
          <a:p>
            <a:pPr indent="0" lvl="0" marL="457200" rtl="0" algn="l">
              <a:spcBef>
                <a:spcPts val="0"/>
              </a:spcBef>
              <a:spcAft>
                <a:spcPts val="0"/>
              </a:spcAft>
              <a:buNone/>
            </a:pPr>
            <a:r>
              <a:t/>
            </a:r>
            <a:endParaRPr sz="1700">
              <a:solidFill>
                <a:schemeClr val="dk1"/>
              </a:solidFill>
              <a:latin typeface="Albert Sans Medium"/>
              <a:ea typeface="Albert Sans Medium"/>
              <a:cs typeface="Albert Sans Medium"/>
              <a:sym typeface="Albert Sans Medium"/>
            </a:endParaRPr>
          </a:p>
          <a:p>
            <a:pPr indent="-336550" lvl="0" marL="457200" rtl="0" algn="l">
              <a:spcBef>
                <a:spcPts val="0"/>
              </a:spcBef>
              <a:spcAft>
                <a:spcPts val="0"/>
              </a:spcAft>
              <a:buClr>
                <a:schemeClr val="dk1"/>
              </a:buClr>
              <a:buSzPts val="1700"/>
              <a:buFont typeface="Albert Sans Medium"/>
              <a:buChar char="●"/>
            </a:pPr>
            <a:r>
              <a:rPr lang="en" sz="1700">
                <a:solidFill>
                  <a:schemeClr val="dk1"/>
                </a:solidFill>
                <a:latin typeface="Albert Sans Medium"/>
                <a:ea typeface="Albert Sans Medium"/>
                <a:cs typeface="Albert Sans Medium"/>
                <a:sym typeface="Albert Sans Medium"/>
              </a:rPr>
              <a:t>However, the correlation values of 0.04, 0.09, and -0.11 indicate that there is little or no correlation between the Operator and timeliness.</a:t>
            </a:r>
            <a:endParaRPr sz="17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1"/>
          <p:cNvSpPr/>
          <p:nvPr/>
        </p:nvSpPr>
        <p:spPr>
          <a:xfrm>
            <a:off x="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1" name="Google Shape;291;p41"/>
          <p:cNvSpPr txBox="1"/>
          <p:nvPr>
            <p:ph idx="2" type="title"/>
          </p:nvPr>
        </p:nvSpPr>
        <p:spPr>
          <a:xfrm>
            <a:off x="3344400" y="539500"/>
            <a:ext cx="5799600" cy="519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500"/>
              <a:t>Keeping the Distance</a:t>
            </a:r>
            <a:endParaRPr sz="2200"/>
          </a:p>
        </p:txBody>
      </p:sp>
      <p:sp>
        <p:nvSpPr>
          <p:cNvPr id="292" name="Google Shape;292;p41"/>
          <p:cNvSpPr txBox="1"/>
          <p:nvPr>
            <p:ph idx="3" type="subTitle"/>
          </p:nvPr>
        </p:nvSpPr>
        <p:spPr>
          <a:xfrm>
            <a:off x="3344400" y="995100"/>
            <a:ext cx="5799600" cy="32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Relationship Between Adherence and Headway</a:t>
            </a:r>
            <a:endParaRPr/>
          </a:p>
        </p:txBody>
      </p:sp>
      <p:pic>
        <p:nvPicPr>
          <p:cNvPr id="293" name="Google Shape;293;p41"/>
          <p:cNvPicPr preferRelativeResize="0"/>
          <p:nvPr>
            <p:ph idx="6" type="pic"/>
          </p:nvPr>
        </p:nvPicPr>
        <p:blipFill rotWithShape="1">
          <a:blip r:embed="rId4">
            <a:alphaModFix/>
          </a:blip>
          <a:srcRect b="0" l="7541" r="7532" t="0"/>
          <a:stretch/>
        </p:blipFill>
        <p:spPr>
          <a:xfrm>
            <a:off x="583800" y="539500"/>
            <a:ext cx="2760599" cy="4064399"/>
          </a:xfrm>
          <a:prstGeom prst="rect">
            <a:avLst/>
          </a:prstGeom>
        </p:spPr>
      </p:pic>
      <p:pic>
        <p:nvPicPr>
          <p:cNvPr id="294" name="Google Shape;294;p41" title="AdherenceHeadwayScatter.png"/>
          <p:cNvPicPr preferRelativeResize="0"/>
          <p:nvPr/>
        </p:nvPicPr>
        <p:blipFill>
          <a:blip r:embed="rId5">
            <a:alphaModFix/>
          </a:blip>
          <a:stretch>
            <a:fillRect/>
          </a:stretch>
        </p:blipFill>
        <p:spPr>
          <a:xfrm>
            <a:off x="3941700" y="1322100"/>
            <a:ext cx="4605000" cy="3596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Keeping the Distance</a:t>
            </a:r>
            <a:endParaRPr/>
          </a:p>
        </p:txBody>
      </p:sp>
      <p:sp>
        <p:nvSpPr>
          <p:cNvPr id="300" name="Google Shape;300;p42"/>
          <p:cNvSpPr txBox="1"/>
          <p:nvPr>
            <p:ph idx="4294967295" type="title"/>
          </p:nvPr>
        </p:nvSpPr>
        <p:spPr>
          <a:xfrm>
            <a:off x="720000" y="1642469"/>
            <a:ext cx="2796300" cy="81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Outliers Aside</a:t>
            </a:r>
            <a:endParaRPr sz="1800"/>
          </a:p>
        </p:txBody>
      </p:sp>
      <p:sp>
        <p:nvSpPr>
          <p:cNvPr id="301" name="Google Shape;301;p42"/>
          <p:cNvSpPr txBox="1"/>
          <p:nvPr>
            <p:ph idx="4294967295" type="subTitle"/>
          </p:nvPr>
        </p:nvSpPr>
        <p:spPr>
          <a:xfrm>
            <a:off x="720000" y="2401778"/>
            <a:ext cx="2796300" cy="2270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By excluding statistical outliers, the negative correlation becomes more obvious and shows a clear relationship wherein lower adherence often correlates with higher headway percentages and deviations while more moderate adherence ranges correlate with lower headway percentages.</a:t>
            </a:r>
            <a:endParaRPr/>
          </a:p>
        </p:txBody>
      </p:sp>
      <p:sp>
        <p:nvSpPr>
          <p:cNvPr id="302" name="Google Shape;302;p42"/>
          <p:cNvSpPr txBox="1"/>
          <p:nvPr>
            <p:ph idx="4294967295" type="subTitle"/>
          </p:nvPr>
        </p:nvSpPr>
        <p:spPr>
          <a:xfrm>
            <a:off x="720000" y="1017725"/>
            <a:ext cx="4454400" cy="4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Relationship Between Adherence and Headway</a:t>
            </a:r>
            <a:endParaRPr/>
          </a:p>
        </p:txBody>
      </p:sp>
      <p:pic>
        <p:nvPicPr>
          <p:cNvPr id="303" name="Google Shape;303;p42" title="AdherenceHeadwaySansOutliers.png"/>
          <p:cNvPicPr preferRelativeResize="0"/>
          <p:nvPr/>
        </p:nvPicPr>
        <p:blipFill>
          <a:blip r:embed="rId4">
            <a:alphaModFix/>
          </a:blip>
          <a:stretch>
            <a:fillRect/>
          </a:stretch>
        </p:blipFill>
        <p:spPr>
          <a:xfrm>
            <a:off x="3618525" y="1509638"/>
            <a:ext cx="5190675" cy="3399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p:nvPr/>
        </p:nvSpPr>
        <p:spPr>
          <a:xfrm>
            <a:off x="0" y="75"/>
            <a:ext cx="3928200" cy="51435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9" name="Google Shape;309;p43"/>
          <p:cNvSpPr txBox="1"/>
          <p:nvPr>
            <p:ph type="title"/>
          </p:nvPr>
        </p:nvSpPr>
        <p:spPr>
          <a:xfrm>
            <a:off x="3889175" y="949375"/>
            <a:ext cx="3205500" cy="59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Summary</a:t>
            </a:r>
            <a:endParaRPr/>
          </a:p>
        </p:txBody>
      </p:sp>
      <p:sp>
        <p:nvSpPr>
          <p:cNvPr id="310" name="Google Shape;310;p43"/>
          <p:cNvSpPr txBox="1"/>
          <p:nvPr>
            <p:ph idx="1" type="subTitle"/>
          </p:nvPr>
        </p:nvSpPr>
        <p:spPr>
          <a:xfrm>
            <a:off x="3889175" y="1547575"/>
            <a:ext cx="4938000" cy="3003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AutoNum type="arabicPeriod"/>
            </a:pPr>
            <a:r>
              <a:rPr lang="en"/>
              <a:t>Nearly 80% of WeGo buses ran on time, and most of the rest are only slightly off schedule.</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AutoNum type="arabicPeriod"/>
            </a:pPr>
            <a:r>
              <a:rPr lang="en"/>
              <a:t>Focus on fixing the problems present in </a:t>
            </a:r>
            <a:r>
              <a:rPr lang="en"/>
              <a:t>west end, Nolensville pike, and Murfreesboro pike along with routes coming from downtown.</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AutoNum type="arabicPeriod"/>
            </a:pPr>
            <a:r>
              <a:rPr lang="en"/>
              <a:t>WeGo service is most consistent during weekday mid-day hours, with high on-time rates and reliable data.</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AutoNum type="arabicPeriod"/>
            </a:pPr>
            <a:r>
              <a:rPr lang="en"/>
              <a:t>Some Operators frequently leave a stop early or late, however there is little to no correlation between the Operator and timeliness.</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AutoNum type="arabicPeriod"/>
            </a:pPr>
            <a:r>
              <a:rPr lang="en"/>
              <a:t>When delays do occur, they impact the entire system.</a:t>
            </a:r>
            <a:endParaRPr/>
          </a:p>
        </p:txBody>
      </p:sp>
      <p:sp>
        <p:nvSpPr>
          <p:cNvPr id="311" name="Google Shape;311;p43"/>
          <p:cNvSpPr/>
          <p:nvPr/>
        </p:nvSpPr>
        <p:spPr>
          <a:xfrm>
            <a:off x="1608529" y="891931"/>
            <a:ext cx="1664618" cy="3176204"/>
          </a:xfrm>
          <a:custGeom>
            <a:rect b="b" l="l" r="r" t="t"/>
            <a:pathLst>
              <a:path extrusionOk="0" h="161331" w="84552">
                <a:moveTo>
                  <a:pt x="1" y="1"/>
                </a:moveTo>
                <a:lnTo>
                  <a:pt x="1" y="161331"/>
                </a:lnTo>
                <a:lnTo>
                  <a:pt x="84551" y="161331"/>
                </a:lnTo>
                <a:lnTo>
                  <a:pt x="84551" y="1"/>
                </a:lnTo>
                <a:close/>
              </a:path>
            </a:pathLst>
          </a:custGeom>
          <a:solidFill>
            <a:srgbClr val="909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 name="Google Shape;312;p43"/>
          <p:cNvGrpSpPr/>
          <p:nvPr/>
        </p:nvGrpSpPr>
        <p:grpSpPr>
          <a:xfrm>
            <a:off x="1523351" y="709411"/>
            <a:ext cx="1834973" cy="3724678"/>
            <a:chOff x="5186401" y="494525"/>
            <a:chExt cx="1834973" cy="3724678"/>
          </a:xfrm>
        </p:grpSpPr>
        <p:sp>
          <p:nvSpPr>
            <p:cNvPr id="313" name="Google Shape;313;p43"/>
            <p:cNvSpPr/>
            <p:nvPr/>
          </p:nvSpPr>
          <p:spPr>
            <a:xfrm>
              <a:off x="5186401" y="494525"/>
              <a:ext cx="1834973" cy="3724678"/>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3"/>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15" name="Google Shape;315;p43"/>
          <p:cNvPicPr preferRelativeResize="0"/>
          <p:nvPr/>
        </p:nvPicPr>
        <p:blipFill rotWithShape="1">
          <a:blip r:embed="rId3">
            <a:alphaModFix/>
          </a:blip>
          <a:srcRect b="10871" l="66971" r="9955" t="10863"/>
          <a:stretch/>
        </p:blipFill>
        <p:spPr>
          <a:xfrm>
            <a:off x="1608538" y="891935"/>
            <a:ext cx="1664599" cy="31761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tonomous Bus Project Proposal by Slidesgo">
  <a:themeElements>
    <a:clrScheme name="Simple Light">
      <a:dk1>
        <a:srgbClr val="3A488D"/>
      </a:dk1>
      <a:lt1>
        <a:srgbClr val="FFFFFF"/>
      </a:lt1>
      <a:dk2>
        <a:srgbClr val="F59E4A"/>
      </a:dk2>
      <a:lt2>
        <a:srgbClr val="78687C"/>
      </a:lt2>
      <a:accent1>
        <a:srgbClr val="B7886B"/>
      </a:accent1>
      <a:accent2>
        <a:srgbClr val="D69863"/>
      </a:accent2>
      <a:accent3>
        <a:srgbClr val="FFFFFF"/>
      </a:accent3>
      <a:accent4>
        <a:srgbClr val="FFFFFF"/>
      </a:accent4>
      <a:accent5>
        <a:srgbClr val="FFFFFF"/>
      </a:accent5>
      <a:accent6>
        <a:srgbClr val="FFFFFF"/>
      </a:accent6>
      <a:hlink>
        <a:srgbClr val="3A488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